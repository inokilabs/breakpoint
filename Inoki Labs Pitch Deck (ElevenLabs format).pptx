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2989ff3-7f0f-54b9-f59f-536652c39616}">
          <p14:sldIdLst>
            <p14:sldId id="256"/>
          </p14:sldIdLst>
        </p14:section>
        <p14:section name="Problem" id="{95ce70db-75c6-8104-a742-533be9536042}">
          <p14:sldIdLst>
            <p14:sldId id="257"/>
            <p14:sldId id="258"/>
          </p14:sldIdLst>
        </p14:section>
        <p14:section name="Solution" id="{bdd243fa-3ed9-d492-128b-3791fa5ceb7b}">
          <p14:sldIdLst>
            <p14:sldId id="259"/>
            <p14:sldId id="260"/>
          </p14:sldIdLst>
        </p14:section>
        <p14:section name="Team" id="{40fff6dd-ac8c-178e-e414-fd38d36c7cad}">
          <p14:sldIdLst>
            <p14:sldId id="261"/>
          </p14:sldIdLst>
        </p14:section>
        <p14:section name="Market" id="{1f5ba3cc-a407-7914-2a9d-c1b55127fd99}">
          <p14:sldIdLst>
            <p14:sldId id="262"/>
            <p14:sldId id="263"/>
            <p14:sldId id="264"/>
          </p14:sldIdLst>
        </p14:section>
        <p14:section name="Go-to-market" id="{ee49c1cd-c61d-b9d8-b7a9-297e5fc3e433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Inoki Labs: crash-testing for robot control policies, in simulation, before they reach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Sources: BreakPoint equal-budget CPU smoke run (uniform arm, 354.5/384 failures, 2026-09-28) and SMOKE rating of the bundled Go1 demo policy (latency-40ms cell 3/4 falls, nominal 0/64 falls). Smoke budgets, not GPU ratings.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Teams test policies on nominal conditions and a handful of random randomized worlds. Failures show up later, on real hardware, where they are expensive and dangerous.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Open-source engine finds and tests failures. Commercial edition (Inoki Labs) fixes and certifies: hardening, Inoki-signed certification, hosted CI dashboard, enterprise support.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Directed search found 304 failures inside plausible deployment ranges vs 156 for uniform random sampling (mean per seed, 384 rollouts per arm, 2 seeds, CPU smoke, bundled Go1 policy). Nearest failure to nominal: 0.82 vs 1.07. Caveat: the directed objective is weighted toward plausible conditions. Second-engine replay rates were too small to separate the methods; an earlier 6/8 vs 1/8 replay result did not reproduce.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Founder photos still to add (grey squares are placeholders).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500 teams x 20 checkpoints = 10K gate runs/month. 500 teams x $120k = $60M/yr. All team counts and pricing are estimates to validate.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SMOKE numbers: bundled Go1 demo policy, CPU, 150-step horizon. Nominal 0/64 from the equal-budget nominal check; 40 ms latency 3/4 from the smoke rating (lag-dropout 4/4 also failed). Not a full 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155448"/>
            <a:ext cx="201168" cy="20116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/>
        </p:nvSpPr>
        <p:spPr>
          <a:xfrm>
            <a:off x="201168" y="155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IL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493776" y="251460"/>
            <a:ext cx="219456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5" name="Text 3"/>
          <p:cNvSpPr/>
          <p:nvPr/>
        </p:nvSpPr>
        <p:spPr>
          <a:xfrm>
            <a:off x="7589520" y="18288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00" dirty="0">
                <a:solidFill>
                  <a:schemeClr val="accent2"/>
                </a:solidFill>
              </a:rPr>
              <a:t>©2026 Inoki Labs Inc.</a:t>
            </a:r>
            <a:endParaRPr lang="en-US" sz="500" dirty="0"/>
          </a:p>
        </p:txBody>
      </p:sp>
      <p:sp>
        <p:nvSpPr>
          <p:cNvPr id="6" name="Shape 4"/>
          <p:cNvSpPr/>
          <p:nvPr/>
        </p:nvSpPr>
        <p:spPr>
          <a:xfrm>
            <a:off x="173736" y="539496"/>
            <a:ext cx="879652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mark"/>
          <p:cNvSpPr/>
          <p:nvPr/>
        </p:nvSpPr>
        <p:spPr>
          <a:xfrm>
            <a:off x="3310128" y="2432304"/>
            <a:ext cx="292608" cy="292608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Logo text"/>
          <p:cNvSpPr txBox="1"/>
          <p:nvPr/>
        </p:nvSpPr>
        <p:spPr>
          <a:xfrm>
            <a:off x="3310128" y="24323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</a:t>
            </a:r>
            <a:endParaRPr lang="en-US" sz="1000" dirty="0"/>
          </a:p>
        </p:txBody>
      </p:sp>
      <p:sp>
        <p:nvSpPr>
          <p:cNvPr id="4" name="Company name"/>
          <p:cNvSpPr txBox="1"/>
          <p:nvPr/>
        </p:nvSpPr>
        <p:spPr>
          <a:xfrm>
            <a:off x="3749040" y="2340864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tx1"/>
                </a:solidFill>
              </a:rPr>
              <a:t>Inoki Labs</a:t>
            </a:r>
            <a:endParaRPr lang="en-US" sz="3000" dirty="0"/>
          </a:p>
        </p:txBody>
      </p:sp>
      <p:sp>
        <p:nvSpPr>
          <p:cNvPr id="5" name="Tagline"/>
          <p:cNvSpPr txBox="1"/>
          <p:nvPr/>
        </p:nvSpPr>
        <p:spPr>
          <a:xfrm>
            <a:off x="1371600" y="2898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accent2"/>
                </a:solidFill>
              </a:rPr>
              <a:t>Crash-testing robot control policies before they ship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Introduction</a:t>
            </a:r>
            <a:endParaRPr lang="en-US" sz="1200" dirty="0"/>
          </a:p>
        </p:txBody>
      </p:sp>
      <p:sp>
        <p:nvSpPr>
          <p:cNvPr id="3" name="Headline"/>
          <p:cNvSpPr txBox="1"/>
          <p:nvPr/>
        </p:nvSpPr>
        <p:spPr>
          <a:xfrm>
            <a:off x="173736" y="603504"/>
            <a:ext cx="879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Robots learn to walk in simulation, then ship to the real world</a:t>
            </a:r>
            <a:endParaRPr lang="en-US" sz="1800" dirty="0"/>
          </a:p>
        </p:txBody>
      </p:sp>
      <p:sp>
        <p:nvSpPr>
          <p:cNvPr id="4" name="Headline rule"/>
          <p:cNvSpPr/>
          <p:nvPr/>
        </p:nvSpPr>
        <p:spPr>
          <a:xfrm>
            <a:off x="173736" y="1051560"/>
            <a:ext cx="879652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" name="Intro text"/>
          <p:cNvSpPr txBox="1"/>
          <p:nvPr/>
        </p:nvSpPr>
        <p:spPr>
          <a:xfrm>
            <a:off x="1078992" y="1298448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Today policies are hardened through </a:t>
            </a:r>
            <a:r>
              <a:rPr lang="en-US" sz="1500" b="1" dirty="0">
                <a:solidFill>
                  <a:schemeClr val="accent1"/>
                </a:solidFill>
              </a:rPr>
              <a:t>domain randomization</a:t>
            </a:r>
            <a:r>
              <a:rPr lang="en-US" sz="1500" dirty="0">
                <a:solidFill>
                  <a:schemeClr val="tx1"/>
                </a:solidFill>
              </a:rPr>
              <a:t> - sampling friction, mass, latency, pushes and sensor noise at random, and hoping the test worlds covered the ones that matter</a:t>
            </a:r>
            <a:endParaRPr lang="en-US" sz="1200" dirty="0"/>
          </a:p>
        </p:txBody>
      </p:sp>
      <p:sp>
        <p:nvSpPr>
          <p:cNvPr id="6" name="Intro panel"/>
          <p:cNvSpPr/>
          <p:nvPr/>
        </p:nvSpPr>
        <p:spPr>
          <a:xfrm>
            <a:off x="4590288" y="1371600"/>
            <a:ext cx="2788920" cy="1005840"/>
          </a:xfrm>
          <a:prstGeom prst="rect">
            <a:avLst/>
          </a:prstGeom>
          <a:solidFill>
            <a:schemeClr val="tx2"/>
          </a:solidFill>
          <a:ln/>
        </p:spPr>
      </p:sp>
      <p:pic>
        <p:nvPicPr>
          <p:cNvPr id="7" name="Robot icon" descr="Rob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554480"/>
            <a:ext cx="640080" cy="640080"/>
          </a:xfrm>
          <a:prstGeom prst="rect">
            <a:avLst/>
          </a:prstGeom>
        </p:spPr>
      </p:pic>
      <p:sp>
        <p:nvSpPr>
          <p:cNvPr id="8" name="Chip friction"/>
          <p:cNvSpPr/>
          <p:nvPr/>
        </p:nvSpPr>
        <p:spPr>
          <a:xfrm>
            <a:off x="5559552" y="1517904"/>
            <a:ext cx="7863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Chip text friction"/>
          <p:cNvSpPr txBox="1"/>
          <p:nvPr/>
        </p:nvSpPr>
        <p:spPr>
          <a:xfrm>
            <a:off x="5559552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friction</a:t>
            </a:r>
            <a:endParaRPr lang="en-US" sz="900" dirty="0"/>
          </a:p>
        </p:txBody>
      </p:sp>
      <p:sp>
        <p:nvSpPr>
          <p:cNvPr id="10" name="Chip latency"/>
          <p:cNvSpPr/>
          <p:nvPr/>
        </p:nvSpPr>
        <p:spPr>
          <a:xfrm>
            <a:off x="6473952" y="1517904"/>
            <a:ext cx="7863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Chip text latency"/>
          <p:cNvSpPr txBox="1"/>
          <p:nvPr/>
        </p:nvSpPr>
        <p:spPr>
          <a:xfrm>
            <a:off x="6473952" y="1517904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latency</a:t>
            </a:r>
            <a:endParaRPr lang="en-US" sz="900" dirty="0"/>
          </a:p>
        </p:txBody>
      </p:sp>
      <p:sp>
        <p:nvSpPr>
          <p:cNvPr id="12" name="Chip pushes"/>
          <p:cNvSpPr/>
          <p:nvPr/>
        </p:nvSpPr>
        <p:spPr>
          <a:xfrm>
            <a:off x="5559552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3" name="Chip text pushes"/>
          <p:cNvSpPr txBox="1"/>
          <p:nvPr/>
        </p:nvSpPr>
        <p:spPr>
          <a:xfrm>
            <a:off x="5559552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pushes</a:t>
            </a:r>
            <a:endParaRPr lang="en-US" sz="900" dirty="0"/>
          </a:p>
        </p:txBody>
      </p:sp>
      <p:sp>
        <p:nvSpPr>
          <p:cNvPr id="14" name="Chip sensor noise"/>
          <p:cNvSpPr/>
          <p:nvPr/>
        </p:nvSpPr>
        <p:spPr>
          <a:xfrm>
            <a:off x="6473952" y="1920240"/>
            <a:ext cx="786384" cy="27432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Chip text sensor noise"/>
          <p:cNvSpPr txBox="1"/>
          <p:nvPr/>
        </p:nvSpPr>
        <p:spPr>
          <a:xfrm>
            <a:off x="6473952" y="19202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sensor noise</a:t>
            </a:r>
            <a:endParaRPr lang="en-US" sz="900" dirty="0"/>
          </a:p>
        </p:txBody>
      </p:sp>
      <p:sp>
        <p:nvSpPr>
          <p:cNvPr id="16" name="Rule top Fragile"/>
          <p:cNvSpPr/>
          <p:nvPr/>
        </p:nvSpPr>
        <p:spPr>
          <a:xfrm>
            <a:off x="1143000" y="2980944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7" name="Label Fragile"/>
          <p:cNvSpPr txBox="1"/>
          <p:nvPr/>
        </p:nvSpPr>
        <p:spPr>
          <a:xfrm>
            <a:off x="1143000" y="3054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Fragile</a:t>
            </a:r>
            <a:endParaRPr lang="en-US" sz="1100" dirty="0"/>
          </a:p>
        </p:txBody>
      </p:sp>
      <p:sp>
        <p:nvSpPr>
          <p:cNvPr id="18" name="Stat Fragile"/>
          <p:cNvSpPr txBox="1"/>
          <p:nvPr/>
        </p:nvSpPr>
        <p:spPr>
          <a:xfrm>
            <a:off x="1143000" y="3383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~92%</a:t>
            </a:r>
            <a:endParaRPr lang="en-US" sz="4400" dirty="0"/>
          </a:p>
        </p:txBody>
      </p:sp>
      <p:sp>
        <p:nvSpPr>
          <p:cNvPr id="19" name="Arrow Fragile"/>
          <p:cNvSpPr txBox="1"/>
          <p:nvPr/>
        </p:nvSpPr>
        <p:spPr>
          <a:xfrm>
            <a:off x="1143000" y="4206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⟶</a:t>
            </a:r>
            <a:endParaRPr lang="en-US" sz="1100" dirty="0"/>
          </a:p>
        </p:txBody>
      </p:sp>
      <p:sp>
        <p:nvSpPr>
          <p:cNvPr id="20" name="Note Fragile"/>
          <p:cNvSpPr txBox="1"/>
          <p:nvPr/>
        </p:nvSpPr>
        <p:spPr>
          <a:xfrm>
            <a:off x="1444752" y="4206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of random test worlds where a baseline Go1 walking policy falls (CPU smoke run, 150 steps)</a:t>
            </a:r>
            <a:endParaRPr lang="en-US" sz="1050" dirty="0"/>
          </a:p>
        </p:txBody>
      </p:sp>
      <p:sp>
        <p:nvSpPr>
          <p:cNvPr id="21" name="Rule bottom Fragile"/>
          <p:cNvSpPr/>
          <p:nvPr/>
        </p:nvSpPr>
        <p:spPr>
          <a:xfrm>
            <a:off x="1143000" y="4846320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2" name="Rule top Easy to miss"/>
          <p:cNvSpPr/>
          <p:nvPr/>
        </p:nvSpPr>
        <p:spPr>
          <a:xfrm>
            <a:off x="4590288" y="2980944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3" name="Label Easy to miss"/>
          <p:cNvSpPr txBox="1"/>
          <p:nvPr/>
        </p:nvSpPr>
        <p:spPr>
          <a:xfrm>
            <a:off x="4590288" y="30540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Easy to miss</a:t>
            </a:r>
            <a:endParaRPr lang="en-US" sz="1100" dirty="0"/>
          </a:p>
        </p:txBody>
      </p:sp>
      <p:sp>
        <p:nvSpPr>
          <p:cNvPr id="24" name="Stat Easy to miss"/>
          <p:cNvSpPr txBox="1"/>
          <p:nvPr/>
        </p:nvSpPr>
        <p:spPr>
          <a:xfrm>
            <a:off x="4590288" y="3383280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40 ms</a:t>
            </a:r>
            <a:endParaRPr lang="en-US" sz="4400" dirty="0"/>
          </a:p>
        </p:txBody>
      </p:sp>
      <p:sp>
        <p:nvSpPr>
          <p:cNvPr id="25" name="Arrow Easy to miss"/>
          <p:cNvSpPr txBox="1"/>
          <p:nvPr/>
        </p:nvSpPr>
        <p:spPr>
          <a:xfrm>
            <a:off x="4590288" y="4206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⟶</a:t>
            </a:r>
            <a:endParaRPr lang="en-US" sz="1100" dirty="0"/>
          </a:p>
        </p:txBody>
      </p:sp>
      <p:sp>
        <p:nvSpPr>
          <p:cNvPr id="26" name="Note Easy to miss"/>
          <p:cNvSpPr txBox="1"/>
          <p:nvPr/>
        </p:nvSpPr>
        <p:spPr>
          <a:xfrm>
            <a:off x="4892040" y="4206240"/>
            <a:ext cx="24871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of control latency is enough to topple the same policy - which passes every nominal check</a:t>
            </a:r>
            <a:endParaRPr lang="en-US" sz="1050" dirty="0"/>
          </a:p>
        </p:txBody>
      </p:sp>
      <p:sp>
        <p:nvSpPr>
          <p:cNvPr id="27" name="Rule bottom Easy to miss"/>
          <p:cNvSpPr/>
          <p:nvPr/>
        </p:nvSpPr>
        <p:spPr>
          <a:xfrm>
            <a:off x="4590288" y="4846320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Problem</a:t>
            </a:r>
            <a:endParaRPr lang="en-US" sz="1200" dirty="0"/>
          </a:p>
        </p:txBody>
      </p:sp>
      <p:sp>
        <p:nvSpPr>
          <p:cNvPr id="3" name="Problem statement"/>
          <p:cNvSpPr txBox="1"/>
          <p:nvPr/>
        </p:nvSpPr>
        <p:spPr>
          <a:xfrm>
            <a:off x="210312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There are no standard tools to find </a:t>
            </a:r>
            <a:r>
              <a:rPr lang="en-US" sz="2600" b="1" dirty="0">
                <a:solidFill>
                  <a:schemeClr val="accent1"/>
                </a:solidFill>
              </a:rPr>
              <a:t>where a robot policy breaks</a:t>
            </a:r>
            <a:r>
              <a:rPr lang="en-US" sz="2600" dirty="0">
                <a:solidFill>
                  <a:schemeClr val="tx1"/>
                </a:solidFill>
              </a:rPr>
              <a:t> before it </a:t>
            </a:r>
            <a:r>
              <a:rPr lang="en-US" sz="2600" b="1" dirty="0">
                <a:solidFill>
                  <a:schemeClr val="accent1"/>
                </a:solidFill>
              </a:rPr>
              <a:t>ships to hardware</a:t>
            </a:r>
            <a:r>
              <a:rPr lang="en-US" sz="2600" dirty="0">
                <a:solidFill>
                  <a:schemeClr val="tx1"/>
                </a:solidFill>
              </a:rPr>
              <a:t>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Solution</a:t>
            </a:r>
            <a:endParaRPr lang="en-US" sz="1200" dirty="0"/>
          </a:p>
        </p:txBody>
      </p:sp>
      <p:sp>
        <p:nvSpPr>
          <p:cNvPr id="3" name="Solution headline"/>
          <p:cNvSpPr txBox="1"/>
          <p:nvPr/>
        </p:nvSpPr>
        <p:spPr>
          <a:xfrm>
            <a:off x="91440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Automated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accent1"/>
                </a:solidFill>
              </a:rPr>
              <a:t>crash-testing</a:t>
            </a:r>
            <a:r>
              <a:rPr lang="en-US" sz="1800" dirty="0">
                <a:solidFill>
                  <a:schemeClr val="tx1"/>
                </a:solidFill>
              </a:rPr>
              <a:t> </a:t>
            </a:r>
            <a:r>
              <a:rPr lang="en-US" sz="1800" b="1" dirty="0">
                <a:solidFill>
                  <a:schemeClr val="tx1"/>
                </a:solidFill>
              </a:rPr>
              <a:t>for robot policies as a CI gate</a:t>
            </a:r>
            <a:endParaRPr lang="en-US" sz="1200" dirty="0"/>
          </a:p>
        </p:txBody>
      </p:sp>
      <p:sp>
        <p:nvSpPr>
          <p:cNvPr id="4" name="Pillar Finds Real Failures"/>
          <p:cNvSpPr txBox="1"/>
          <p:nvPr/>
        </p:nvSpPr>
        <p:spPr>
          <a:xfrm>
            <a:off x="338328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Finds Real Failures</a:t>
            </a:r>
            <a:endParaRPr lang="en-US" sz="1700" dirty="0"/>
          </a:p>
        </p:txBody>
      </p:sp>
      <p:sp>
        <p:nvSpPr>
          <p:cNvPr id="5" name="Pillar body Finds Real Failures"/>
          <p:cNvSpPr txBox="1"/>
          <p:nvPr/>
        </p:nvSpPr>
        <p:spPr>
          <a:xfrm>
            <a:off x="475488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Directed search, not sampling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Treats the randomization space as a search space and hunts for the friction, latency and push settings where a fixed policy breaks</a:t>
            </a:r>
            <a:endParaRPr lang="en-US" sz="1050" dirty="0"/>
          </a:p>
        </p:txBody>
      </p:sp>
      <p:sp>
        <p:nvSpPr>
          <p:cNvPr id="6" name="Pillar Comparable"/>
          <p:cNvSpPr txBox="1"/>
          <p:nvPr/>
        </p:nvSpPr>
        <p:spPr>
          <a:xfrm>
            <a:off x="333756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Comparable</a:t>
            </a:r>
            <a:endParaRPr lang="en-US" sz="1700" dirty="0"/>
          </a:p>
        </p:txBody>
      </p:sp>
      <p:sp>
        <p:nvSpPr>
          <p:cNvPr id="7" name="Pillar body Comparable"/>
          <p:cNvSpPr txBox="1"/>
          <p:nvPr/>
        </p:nvSpPr>
        <p:spPr>
          <a:xfrm>
            <a:off x="347472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Ratings on a fixed battery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Every condition reports falls, fall rate and a 95% interval, so two policies rated on the same battery are directly comparable</a:t>
            </a:r>
            <a:endParaRPr lang="en-US" sz="1050" dirty="0"/>
          </a:p>
        </p:txBody>
      </p:sp>
      <p:sp>
        <p:nvSpPr>
          <p:cNvPr id="8" name="Pillar Simple &amp;amp; Trusted"/>
          <p:cNvSpPr txBox="1"/>
          <p:nvPr/>
        </p:nvSpPr>
        <p:spPr>
          <a:xfrm>
            <a:off x="6217920" y="2560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Simple &amp; Trusted</a:t>
            </a:r>
            <a:endParaRPr lang="en-US" sz="1700" dirty="0"/>
          </a:p>
        </p:txBody>
      </p:sp>
      <p:sp>
        <p:nvSpPr>
          <p:cNvPr id="9" name="Pillar body Simple &amp; Trusted"/>
          <p:cNvSpPr txBox="1"/>
          <p:nvPr/>
        </p:nvSpPr>
        <p:spPr>
          <a:xfrm>
            <a:off x="6355080" y="3154680"/>
            <a:ext cx="2103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Drops into CI, signed results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A GitHub Action fails the build when a candidate falls where production survived; ed25519-signed reports prove nothing was edited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Solution Prototype Deep-dive</a:t>
            </a:r>
            <a:endParaRPr lang="en-US" sz="1200" dirty="0"/>
          </a:p>
        </p:txBody>
      </p:sp>
      <p:sp>
        <p:nvSpPr>
          <p:cNvPr id="3" name="Prototype intro"/>
          <p:cNvSpPr txBox="1"/>
          <p:nvPr/>
        </p:nvSpPr>
        <p:spPr>
          <a:xfrm>
            <a:off x="210312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We have already built the engine and </a:t>
            </a:r>
            <a:r>
              <a:rPr lang="en-US" sz="1300" dirty="0">
                <a:solidFill>
                  <a:schemeClr val="accent1"/>
                </a:solidFill>
              </a:rPr>
              <a:t>tested it on five robots</a:t>
            </a:r>
            <a:endParaRPr lang="en-US" sz="1200" dirty="0"/>
          </a:p>
        </p:txBody>
      </p:sp>
      <p:sp>
        <p:nvSpPr>
          <p:cNvPr id="4" name="Step 1 number"/>
          <p:cNvSpPr txBox="1"/>
          <p:nvPr/>
        </p:nvSpPr>
        <p:spPr>
          <a:xfrm>
            <a:off x="256032" y="13258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1.</a:t>
            </a:r>
            <a:endParaRPr lang="en-US" sz="1200" dirty="0"/>
          </a:p>
        </p:txBody>
      </p:sp>
      <p:sp>
        <p:nvSpPr>
          <p:cNvPr id="5" name="Step 1 text"/>
          <p:cNvSpPr txBox="1"/>
          <p:nvPr/>
        </p:nvSpPr>
        <p:spPr>
          <a:xfrm>
            <a:off x="548640" y="13258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Any trained policy - ONNX, brax, RSL-RL, Isaac Lab</a:t>
            </a:r>
            <a:endParaRPr lang="en-US" sz="1200" dirty="0"/>
          </a:p>
        </p:txBody>
      </p:sp>
      <p:pic>
        <p:nvPicPr>
          <p:cNvPr id="6" name="Step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0440" y="1353312"/>
            <a:ext cx="274320" cy="274320"/>
          </a:xfrm>
          <a:prstGeom prst="rect">
            <a:avLst/>
          </a:prstGeom>
        </p:spPr>
      </p:pic>
      <p:sp>
        <p:nvSpPr>
          <p:cNvPr id="7" name="Step 2 number"/>
          <p:cNvSpPr txBox="1"/>
          <p:nvPr/>
        </p:nvSpPr>
        <p:spPr>
          <a:xfrm>
            <a:off x="256032" y="18013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2.</a:t>
            </a:r>
            <a:endParaRPr lang="en-US" sz="1200" dirty="0"/>
          </a:p>
        </p:txBody>
      </p:sp>
      <p:sp>
        <p:nvSpPr>
          <p:cNvPr id="8" name="Step 2 text"/>
          <p:cNvSpPr txBox="1"/>
          <p:nvPr/>
        </p:nvSpPr>
        <p:spPr>
          <a:xfrm>
            <a:off x="548640" y="180136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Policy check - confirms it walks before testing</a:t>
            </a:r>
            <a:endParaRPr lang="en-US" sz="1200" dirty="0"/>
          </a:p>
        </p:txBody>
      </p:sp>
      <p:pic>
        <p:nvPicPr>
          <p:cNvPr id="9" name="Step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828800"/>
            <a:ext cx="274320" cy="274320"/>
          </a:xfrm>
          <a:prstGeom prst="rect">
            <a:avLst/>
          </a:prstGeom>
        </p:spPr>
      </p:pic>
      <p:sp>
        <p:nvSpPr>
          <p:cNvPr id="10" name="Step 3 number"/>
          <p:cNvSpPr txBox="1"/>
          <p:nvPr/>
        </p:nvSpPr>
        <p:spPr>
          <a:xfrm>
            <a:off x="256032" y="2276856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3.</a:t>
            </a:r>
            <a:endParaRPr lang="en-US" sz="1200" dirty="0"/>
          </a:p>
        </p:txBody>
      </p:sp>
      <p:sp>
        <p:nvSpPr>
          <p:cNvPr id="11" name="Step 3 text"/>
          <p:cNvSpPr txBox="1"/>
          <p:nvPr/>
        </p:nvSpPr>
        <p:spPr>
          <a:xfrm>
            <a:off x="548640" y="22768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Thousands of worlds simulated at once in MuJoCo MJX</a:t>
            </a:r>
            <a:endParaRPr lang="en-US" sz="1200" dirty="0"/>
          </a:p>
        </p:txBody>
      </p:sp>
      <p:pic>
        <p:nvPicPr>
          <p:cNvPr id="12" name="Step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304288"/>
            <a:ext cx="274320" cy="274320"/>
          </a:xfrm>
          <a:prstGeom prst="rect">
            <a:avLst/>
          </a:prstGeom>
        </p:spPr>
      </p:pic>
      <p:sp>
        <p:nvSpPr>
          <p:cNvPr id="13" name="Step 4 number"/>
          <p:cNvSpPr txBox="1"/>
          <p:nvPr/>
        </p:nvSpPr>
        <p:spPr>
          <a:xfrm>
            <a:off x="256032" y="2752344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4.</a:t>
            </a:r>
            <a:endParaRPr lang="en-US" sz="1200" dirty="0"/>
          </a:p>
        </p:txBody>
      </p:sp>
      <p:sp>
        <p:nvSpPr>
          <p:cNvPr id="14" name="Step 4 text"/>
          <p:cNvSpPr txBox="1"/>
          <p:nvPr/>
        </p:nvSpPr>
        <p:spPr>
          <a:xfrm>
            <a:off x="548640" y="2752344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Directed failure search on GPU</a:t>
            </a:r>
            <a:endParaRPr lang="en-US" sz="1200" dirty="0"/>
          </a:p>
        </p:txBody>
      </p:sp>
      <p:pic>
        <p:nvPicPr>
          <p:cNvPr id="15" name="Step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779776"/>
            <a:ext cx="274320" cy="274320"/>
          </a:xfrm>
          <a:prstGeom prst="rect">
            <a:avLst/>
          </a:prstGeom>
        </p:spPr>
      </p:pic>
      <p:sp>
        <p:nvSpPr>
          <p:cNvPr id="16" name="Step 5 number"/>
          <p:cNvSpPr txBox="1"/>
          <p:nvPr/>
        </p:nvSpPr>
        <p:spPr>
          <a:xfrm>
            <a:off x="256032" y="32278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5.</a:t>
            </a:r>
            <a:endParaRPr lang="en-US" sz="1200" dirty="0"/>
          </a:p>
        </p:txBody>
      </p:sp>
      <p:sp>
        <p:nvSpPr>
          <p:cNvPr id="17" name="Step 5 text"/>
          <p:cNvSpPr txBox="1"/>
          <p:nvPr/>
        </p:nvSpPr>
        <p:spPr>
          <a:xfrm>
            <a:off x="548640" y="3227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Failures grouped into families, replayed in a second engine</a:t>
            </a:r>
            <a:endParaRPr lang="en-US" sz="1200" dirty="0"/>
          </a:p>
        </p:txBody>
      </p:sp>
      <p:pic>
        <p:nvPicPr>
          <p:cNvPr id="18" name="Step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3255264"/>
            <a:ext cx="274320" cy="274320"/>
          </a:xfrm>
          <a:prstGeom prst="rect">
            <a:avLst/>
          </a:prstGeom>
        </p:spPr>
      </p:pic>
      <p:sp>
        <p:nvSpPr>
          <p:cNvPr id="19" name="Step 6 number"/>
          <p:cNvSpPr txBox="1"/>
          <p:nvPr/>
        </p:nvSpPr>
        <p:spPr>
          <a:xfrm>
            <a:off x="256032" y="3703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6.</a:t>
            </a:r>
            <a:endParaRPr lang="en-US" sz="1200" dirty="0"/>
          </a:p>
        </p:txBody>
      </p:sp>
      <p:sp>
        <p:nvSpPr>
          <p:cNvPr id="20" name="Step 6 text"/>
          <p:cNvSpPr txBox="1"/>
          <p:nvPr/>
        </p:nvSpPr>
        <p:spPr>
          <a:xfrm>
            <a:off x="548640" y="3703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Report, rating and CI verdict ready to share</a:t>
            </a:r>
            <a:endParaRPr lang="en-US" sz="1200" dirty="0"/>
          </a:p>
        </p:txBody>
      </p:sp>
      <p:pic>
        <p:nvPicPr>
          <p:cNvPr id="21" name="Step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0440" y="3730752"/>
            <a:ext cx="274320" cy="274320"/>
          </a:xfrm>
          <a:prstGeom prst="rect">
            <a:avLst/>
          </a:prstGeom>
        </p:spPr>
      </p:pic>
      <p:sp>
        <p:nvSpPr>
          <p:cNvPr id="22" name="Demo frame"/>
          <p:cNvSpPr/>
          <p:nvPr/>
        </p:nvSpPr>
        <p:spPr>
          <a:xfrm>
            <a:off x="4946904" y="749808"/>
            <a:ext cx="3657600" cy="2743200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3" name="Report screenshot" descr="BreakPoint failure repor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6904" y="941832"/>
            <a:ext cx="3657600" cy="2221992"/>
          </a:xfrm>
          <a:prstGeom prst="rect">
            <a:avLst/>
          </a:prstGeom>
        </p:spPr>
      </p:pic>
      <p:sp>
        <p:nvSpPr>
          <p:cNvPr id="24" name="Demo caption"/>
          <p:cNvSpPr txBox="1"/>
          <p:nvPr/>
        </p:nvSpPr>
        <p:spPr>
          <a:xfrm>
            <a:off x="4946904" y="35844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Sample failure report</a:t>
            </a:r>
            <a:endParaRPr lang="en-US" sz="1200" dirty="0"/>
          </a:p>
        </p:txBody>
      </p:sp>
      <p:sp>
        <p:nvSpPr>
          <p:cNvPr id="25" name="Stat rule top"/>
          <p:cNvSpPr/>
          <p:nvPr/>
        </p:nvSpPr>
        <p:spPr>
          <a:xfrm>
            <a:off x="512064" y="4251960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6" name="Stat label"/>
          <p:cNvSpPr txBox="1"/>
          <p:nvPr/>
        </p:nvSpPr>
        <p:spPr>
          <a:xfrm>
            <a:off x="274320" y="4325112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Realistic failures found vs random sampling (sim)</a:t>
            </a:r>
            <a:endParaRPr lang="en-US" sz="1000" dirty="0"/>
          </a:p>
        </p:txBody>
      </p:sp>
      <p:sp>
        <p:nvSpPr>
          <p:cNvPr id="27" name="Stat value"/>
          <p:cNvSpPr txBox="1"/>
          <p:nvPr/>
        </p:nvSpPr>
        <p:spPr>
          <a:xfrm>
            <a:off x="512064" y="453542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chemeClr val="tx1"/>
                </a:solidFill>
              </a:rPr>
              <a:t>2x</a:t>
            </a:r>
            <a:endParaRPr lang="en-US" sz="2600" dirty="0"/>
          </a:p>
        </p:txBody>
      </p:sp>
      <p:sp>
        <p:nvSpPr>
          <p:cNvPr id="28" name="Stat rule bottom"/>
          <p:cNvSpPr/>
          <p:nvPr/>
        </p:nvSpPr>
        <p:spPr>
          <a:xfrm>
            <a:off x="548640" y="5001768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am headline"/>
          <p:cNvSpPr txBox="1"/>
          <p:nvPr/>
        </p:nvSpPr>
        <p:spPr>
          <a:xfrm>
            <a:off x="914400" y="749808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Two co-founders, backed early by Antler</a:t>
            </a:r>
            <a:endParaRPr lang="en-US" sz="1200" dirty="0"/>
          </a:p>
        </p:txBody>
      </p:sp>
      <p:sp>
        <p:nvSpPr>
          <p:cNvPr id="4" name="Photo CEO &amp; CGO"/>
          <p:cNvSpPr/>
          <p:nvPr/>
        </p:nvSpPr>
        <p:spPr>
          <a:xfrm>
            <a:off x="1627632" y="1243584"/>
            <a:ext cx="1325880" cy="13258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5" name="Photo icon CEO &amp; CGO" descr="Founder photo placehold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627632"/>
            <a:ext cx="548640" cy="548640"/>
          </a:xfrm>
          <a:prstGeom prst="rect">
            <a:avLst/>
          </a:prstGeom>
        </p:spPr>
      </p:pic>
      <p:sp>
        <p:nvSpPr>
          <p:cNvPr id="6" name="Name CEO &amp;amp; CGO"/>
          <p:cNvSpPr txBox="1"/>
          <p:nvPr/>
        </p:nvSpPr>
        <p:spPr>
          <a:xfrm>
            <a:off x="713232" y="267004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Vihan Aggarwal | CEO &amp; CGO</a:t>
            </a:r>
            <a:endParaRPr lang="en-US" sz="1300" dirty="0"/>
          </a:p>
        </p:txBody>
      </p:sp>
      <p:sp>
        <p:nvSpPr>
          <p:cNvPr id="7" name="Edge CEO &amp;amp; CGO"/>
          <p:cNvSpPr txBox="1"/>
          <p:nvPr/>
        </p:nvSpPr>
        <p:spPr>
          <a:xfrm>
            <a:off x="713232" y="28986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accent1"/>
                </a:solidFill>
              </a:rPr>
              <a:t>MIT CSAIL · Mantis AI fellow</a:t>
            </a:r>
            <a:endParaRPr lang="en-US" sz="1200" dirty="0"/>
          </a:p>
        </p:txBody>
      </p:sp>
      <p:sp>
        <p:nvSpPr>
          <p:cNvPr id="8" name="Bio CEO &amp; CGO"/>
          <p:cNvSpPr txBox="1"/>
          <p:nvPr/>
        </p:nvSpPr>
        <p:spPr>
          <a:xfrm>
            <a:off x="941832" y="3337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Purdue TRACE Lab: gas-leak detection on a quadruped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IEEE Best Paper, AIIoT 2026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Yale GRAB Lab, Nazarbayev ARM Lab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Author of kinfast (robot kinematics)</a:t>
            </a:r>
            <a:endParaRPr lang="en-US" sz="1200" dirty="0"/>
          </a:p>
        </p:txBody>
      </p:sp>
      <p:sp>
        <p:nvSpPr>
          <p:cNvPr id="9" name="Photo CTO &amp; CMO"/>
          <p:cNvSpPr/>
          <p:nvPr/>
        </p:nvSpPr>
        <p:spPr>
          <a:xfrm>
            <a:off x="5833872" y="1243584"/>
            <a:ext cx="1325880" cy="132588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10" name="Photo icon CTO &amp; CMO" descr="Founder photo placehold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627632"/>
            <a:ext cx="548640" cy="548640"/>
          </a:xfrm>
          <a:prstGeom prst="rect">
            <a:avLst/>
          </a:prstGeom>
        </p:spPr>
      </p:pic>
      <p:sp>
        <p:nvSpPr>
          <p:cNvPr id="11" name="Name CTO &amp;amp; CMO"/>
          <p:cNvSpPr txBox="1"/>
          <p:nvPr/>
        </p:nvSpPr>
        <p:spPr>
          <a:xfrm>
            <a:off x="4919472" y="2670048"/>
            <a:ext cx="3154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Subhi Stephan | CTO &amp; CMO</a:t>
            </a:r>
            <a:endParaRPr lang="en-US" sz="1300" dirty="0"/>
          </a:p>
        </p:txBody>
      </p:sp>
      <p:sp>
        <p:nvSpPr>
          <p:cNvPr id="12" name="Edge CTO &amp;amp; CMO"/>
          <p:cNvSpPr txBox="1"/>
          <p:nvPr/>
        </p:nvSpPr>
        <p:spPr>
          <a:xfrm>
            <a:off x="4919472" y="2898648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u="sng" dirty="0">
                <a:solidFill>
                  <a:schemeClr val="accent1"/>
                </a:solidFill>
              </a:rPr>
              <a:t>Duke BME and ECE</a:t>
            </a:r>
            <a:endParaRPr lang="en-US" sz="1200" dirty="0"/>
          </a:p>
        </p:txBody>
      </p:sp>
      <p:sp>
        <p:nvSpPr>
          <p:cNvPr id="13" name="Bio CTO &amp; CMO"/>
          <p:cNvSpPr txBox="1"/>
          <p:nvPr/>
        </p:nvSpPr>
        <p:spPr>
          <a:xfrm>
            <a:off x="5248656" y="333756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Research intern at MIT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Drug discovery research, Mount Sinai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Top 10, Blue Ocean Competition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Vision</a:t>
            </a:r>
            <a:endParaRPr lang="en-US" sz="1200" dirty="0"/>
          </a:p>
        </p:txBody>
      </p:sp>
      <p:sp>
        <p:nvSpPr>
          <p:cNvPr id="3" name="Headline"/>
          <p:cNvSpPr txBox="1"/>
          <p:nvPr/>
        </p:nvSpPr>
        <p:spPr>
          <a:xfrm>
            <a:off x="173736" y="603504"/>
            <a:ext cx="87965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Inoki's </a:t>
            </a:r>
            <a:r>
              <a:rPr lang="en-US" sz="1500" dirty="0">
                <a:solidFill>
                  <a:schemeClr val="accent1"/>
                </a:solidFill>
              </a:rPr>
              <a:t>crash-testing</a:t>
            </a:r>
            <a:r>
              <a:rPr lang="en-US" sz="1500" dirty="0">
                <a:solidFill>
                  <a:schemeClr val="tx1"/>
                </a:solidFill>
              </a:rPr>
              <a:t> will become the </a:t>
            </a:r>
            <a:r>
              <a:rPr lang="en-US" sz="1500" dirty="0">
                <a:solidFill>
                  <a:schemeClr val="accent1"/>
                </a:solidFill>
              </a:rPr>
              <a:t>safety standard</a:t>
            </a:r>
            <a:r>
              <a:rPr lang="en-US" sz="1500" dirty="0">
                <a:solidFill>
                  <a:schemeClr val="tx1"/>
                </a:solidFill>
              </a:rPr>
              <a:t> every robot policy ships through.</a:t>
            </a:r>
            <a:endParaRPr lang="en-US" sz="1500" dirty="0"/>
          </a:p>
        </p:txBody>
      </p:sp>
      <p:sp>
        <p:nvSpPr>
          <p:cNvPr id="4" name="Headline rule"/>
          <p:cNvSpPr/>
          <p:nvPr/>
        </p:nvSpPr>
        <p:spPr>
          <a:xfrm>
            <a:off x="173736" y="1051560"/>
            <a:ext cx="8796528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5" name="Column Inoki Expansion"/>
          <p:cNvSpPr txBox="1"/>
          <p:nvPr/>
        </p:nvSpPr>
        <p:spPr>
          <a:xfrm>
            <a:off x="201168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Inoki Expansion</a:t>
            </a:r>
            <a:endParaRPr lang="en-US" sz="1200" dirty="0"/>
          </a:p>
        </p:txBody>
      </p:sp>
      <p:sp>
        <p:nvSpPr>
          <p:cNvPr id="6" name="Column Use-cases"/>
          <p:cNvSpPr txBox="1"/>
          <p:nvPr/>
        </p:nvSpPr>
        <p:spPr>
          <a:xfrm>
            <a:off x="2935224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Use-cases</a:t>
            </a:r>
            <a:endParaRPr lang="en-US" sz="1200" dirty="0"/>
          </a:p>
        </p:txBody>
      </p:sp>
      <p:sp>
        <p:nvSpPr>
          <p:cNvPr id="7" name="Column Users"/>
          <p:cNvSpPr txBox="1"/>
          <p:nvPr/>
        </p:nvSpPr>
        <p:spPr>
          <a:xfrm>
            <a:off x="5888736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Users</a:t>
            </a:r>
            <a:endParaRPr lang="en-US" sz="1200" dirty="0"/>
          </a:p>
        </p:txBody>
      </p:sp>
      <p:sp>
        <p:nvSpPr>
          <p:cNvPr id="8" name="Expansion arrow"/>
          <p:cNvSpPr/>
          <p:nvPr/>
        </p:nvSpPr>
        <p:spPr>
          <a:xfrm flipV="1">
            <a:off x="1243584" y="1572768"/>
            <a:ext cx="0" cy="3383280"/>
          </a:xfrm>
          <a:prstGeom prst="line">
            <a:avLst/>
          </a:prstGeom>
          <a:noFill/>
          <a:ln w="2857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9" name="Use-case Fleet-wide certification"/>
          <p:cNvSpPr txBox="1"/>
          <p:nvPr/>
        </p:nvSpPr>
        <p:spPr>
          <a:xfrm>
            <a:off x="3026664" y="1572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Fleet-wide certification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continuous ratings of deployed fleets for insurers and regulators</a:t>
            </a:r>
            <a:endParaRPr lang="en-US" sz="800" dirty="0"/>
          </a:p>
        </p:txBody>
      </p:sp>
      <p:sp>
        <p:nvSpPr>
          <p:cNvPr id="10" name="Users Fleet-wide certification"/>
          <p:cNvSpPr txBox="1"/>
          <p:nvPr/>
        </p:nvSpPr>
        <p:spPr>
          <a:xfrm>
            <a:off x="5440680" y="16276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Insurers  ·  Regulators  ·  Standards bodies</a:t>
            </a:r>
            <a:endParaRPr lang="en-US" sz="1000" dirty="0"/>
          </a:p>
        </p:txBody>
      </p:sp>
      <p:sp>
        <p:nvSpPr>
          <p:cNvPr id="11" name="Use-case Inoki-signed certification"/>
          <p:cNvSpPr txBox="1"/>
          <p:nvPr/>
        </p:nvSpPr>
        <p:spPr>
          <a:xfrm>
            <a:off x="3026664" y="2103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Inoki-signed certification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independent, verifiable ratings for procurement and sign-off</a:t>
            </a:r>
            <a:endParaRPr lang="en-US" sz="800" dirty="0"/>
          </a:p>
        </p:txBody>
      </p:sp>
      <p:sp>
        <p:nvSpPr>
          <p:cNvPr id="12" name="Users Inoki-signed certification"/>
          <p:cNvSpPr txBox="1"/>
          <p:nvPr/>
        </p:nvSpPr>
        <p:spPr>
          <a:xfrm>
            <a:off x="5440680" y="2157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Logistics operators  ·  Enterprise buyers</a:t>
            </a:r>
            <a:endParaRPr lang="en-US" sz="1000" dirty="0"/>
          </a:p>
        </p:txBody>
      </p:sp>
      <p:sp>
        <p:nvSpPr>
          <p:cNvPr id="13" name="Use-case Hardening &amp; robust retraining"/>
          <p:cNvSpPr txBox="1"/>
          <p:nvPr/>
        </p:nvSpPr>
        <p:spPr>
          <a:xfrm>
            <a:off x="3026664" y="26517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Hardening &amp; robust retraining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fix the failures we find, retrain against them</a:t>
            </a:r>
            <a:endParaRPr lang="en-US" sz="800" dirty="0"/>
          </a:p>
        </p:txBody>
      </p:sp>
      <p:sp>
        <p:nvSpPr>
          <p:cNvPr id="14" name="Users Hardening &amp;amp; robust retraining"/>
          <p:cNvSpPr txBox="1"/>
          <p:nvPr/>
        </p:nvSpPr>
        <p:spPr>
          <a:xfrm>
            <a:off x="5440680" y="270662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Humanoid OEMs - Figure, Agility, 1X</a:t>
            </a:r>
            <a:endParaRPr lang="en-US" sz="1000" dirty="0"/>
          </a:p>
        </p:txBody>
      </p:sp>
      <p:sp>
        <p:nvSpPr>
          <p:cNvPr id="15" name="Use-case Hosted CI dashboard"/>
          <p:cNvSpPr txBox="1"/>
          <p:nvPr/>
        </p:nvSpPr>
        <p:spPr>
          <a:xfrm>
            <a:off x="3026664" y="3200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Hosted CI dashboard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every checkpoint gated against production</a:t>
            </a:r>
            <a:endParaRPr lang="en-US" sz="800" dirty="0"/>
          </a:p>
        </p:txBody>
      </p:sp>
      <p:sp>
        <p:nvSpPr>
          <p:cNvPr id="16" name="Users Hosted CI dashboard"/>
          <p:cNvSpPr txBox="1"/>
          <p:nvPr/>
        </p:nvSpPr>
        <p:spPr>
          <a:xfrm>
            <a:off x="5440680" y="325526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Quadruped makers - Unitree, ANYbotics</a:t>
            </a:r>
            <a:endParaRPr lang="en-US" sz="1000" dirty="0"/>
          </a:p>
        </p:txBody>
      </p:sp>
      <p:sp>
        <p:nvSpPr>
          <p:cNvPr id="17" name="Use-case Comparable ratings"/>
          <p:cNvSpPr txBox="1"/>
          <p:nvPr/>
        </p:nvSpPr>
        <p:spPr>
          <a:xfrm>
            <a:off x="3026664" y="373075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Comparable ratings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battery scores with 95% intervals</a:t>
            </a:r>
            <a:endParaRPr lang="en-US" sz="800" dirty="0"/>
          </a:p>
        </p:txBody>
      </p:sp>
      <p:sp>
        <p:nvSpPr>
          <p:cNvPr id="18" name="Users Comparable ratings"/>
          <p:cNvSpPr txBox="1"/>
          <p:nvPr/>
        </p:nvSpPr>
        <p:spPr>
          <a:xfrm>
            <a:off x="5440680" y="37856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Robot-learning startups and research labs</a:t>
            </a:r>
            <a:endParaRPr lang="en-US" sz="1000" dirty="0"/>
          </a:p>
        </p:txBody>
      </p:sp>
      <p:sp>
        <p:nvSpPr>
          <p:cNvPr id="19" name="Use-case Open-source engine"/>
          <p:cNvSpPr txBox="1"/>
          <p:nvPr/>
        </p:nvSpPr>
        <p:spPr>
          <a:xfrm>
            <a:off x="3026664" y="43891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Open-source engine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find and test failures, free, no caps</a:t>
            </a:r>
            <a:endParaRPr lang="en-US" sz="800" dirty="0"/>
          </a:p>
        </p:txBody>
      </p:sp>
      <p:sp>
        <p:nvSpPr>
          <p:cNvPr id="20" name="Users Open-source engine"/>
          <p:cNvSpPr txBox="1"/>
          <p:nvPr/>
        </p:nvSpPr>
        <p:spPr>
          <a:xfrm>
            <a:off x="5440680" y="44439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MuJoCo / Isaac Lab users  ·  open-source RL</a:t>
            </a:r>
            <a:endParaRPr lang="en-US" sz="1000" dirty="0"/>
          </a:p>
        </p:txBody>
      </p:sp>
      <p:sp>
        <p:nvSpPr>
          <p:cNvPr id="21" name="Initial focus box"/>
          <p:cNvSpPr/>
          <p:nvPr/>
        </p:nvSpPr>
        <p:spPr>
          <a:xfrm>
            <a:off x="3163824" y="4279392"/>
            <a:ext cx="1737360" cy="621792"/>
          </a:xfrm>
          <a:prstGeom prst="rect">
            <a:avLst/>
          </a:prstGeom>
          <a:ln w="9525">
            <a:solidFill>
              <a:schemeClr val="accent1"/>
            </a:solidFill>
            <a:prstDash val="solid"/>
          </a:ln>
        </p:spPr>
      </p:sp>
      <p:sp>
        <p:nvSpPr>
          <p:cNvPr id="22" name="Initial focus label"/>
          <p:cNvSpPr txBox="1"/>
          <p:nvPr/>
        </p:nvSpPr>
        <p:spPr>
          <a:xfrm>
            <a:off x="4206240" y="4937760"/>
            <a:ext cx="8229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chemeClr val="tx1"/>
                </a:solidFill>
              </a:rPr>
              <a:t>Initial Focus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Expanding Total Available Market</a:t>
            </a:r>
            <a:endParaRPr lang="en-US" sz="1200" dirty="0"/>
          </a:p>
        </p:txBody>
      </p:sp>
      <p:sp>
        <p:nvSpPr>
          <p:cNvPr id="3" name="Circle $1.8B"/>
          <p:cNvSpPr/>
          <p:nvPr/>
        </p:nvSpPr>
        <p:spPr>
          <a:xfrm>
            <a:off x="896112" y="1901952"/>
            <a:ext cx="1408176" cy="1408176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4" name="Value $1.8B"/>
          <p:cNvSpPr txBox="1"/>
          <p:nvPr/>
        </p:nvSpPr>
        <p:spPr>
          <a:xfrm>
            <a:off x="896112" y="2331720"/>
            <a:ext cx="14081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$1.8B</a:t>
            </a:r>
            <a:endParaRPr lang="en-US" sz="2200" dirty="0"/>
          </a:p>
        </p:txBody>
      </p:sp>
      <p:sp>
        <p:nvSpPr>
          <p:cNvPr id="5" name="Caption $1.8B"/>
          <p:cNvSpPr txBox="1"/>
          <p:nvPr/>
        </p:nvSpPr>
        <p:spPr>
          <a:xfrm>
            <a:off x="548640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Robotics simulation software market (2025) - the budget line we sell into</a:t>
            </a:r>
            <a:endParaRPr lang="en-US" sz="1100" dirty="0"/>
          </a:p>
        </p:txBody>
      </p:sp>
      <p:sp>
        <p:nvSpPr>
          <p:cNvPr id="6" name="Circle $15B"/>
          <p:cNvSpPr/>
          <p:nvPr/>
        </p:nvSpPr>
        <p:spPr>
          <a:xfrm>
            <a:off x="3474720" y="1627632"/>
            <a:ext cx="1773936" cy="1773936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7" name="Value $15B"/>
          <p:cNvSpPr txBox="1"/>
          <p:nvPr/>
        </p:nvSpPr>
        <p:spPr>
          <a:xfrm>
            <a:off x="3474720" y="2240280"/>
            <a:ext cx="177393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chemeClr val="tx1"/>
                </a:solidFill>
              </a:rPr>
              <a:t>$15B</a:t>
            </a:r>
            <a:endParaRPr lang="en-US" sz="2600" dirty="0"/>
          </a:p>
        </p:txBody>
      </p:sp>
      <p:sp>
        <p:nvSpPr>
          <p:cNvPr id="8" name="Caption $15B"/>
          <p:cNvSpPr txBox="1"/>
          <p:nvPr/>
        </p:nvSpPr>
        <p:spPr>
          <a:xfrm>
            <a:off x="3310128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Humanoid robot market by 2030 - every policy needs testing before it ships</a:t>
            </a:r>
            <a:endParaRPr lang="en-US" sz="1100" dirty="0"/>
          </a:p>
        </p:txBody>
      </p:sp>
      <p:sp>
        <p:nvSpPr>
          <p:cNvPr id="9" name="Circle $21B"/>
          <p:cNvSpPr/>
          <p:nvPr/>
        </p:nvSpPr>
        <p:spPr>
          <a:xfrm>
            <a:off x="6345936" y="1426464"/>
            <a:ext cx="2048256" cy="2048256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10" name="Value $21B"/>
          <p:cNvSpPr txBox="1"/>
          <p:nvPr/>
        </p:nvSpPr>
        <p:spPr>
          <a:xfrm>
            <a:off x="6345936" y="2176272"/>
            <a:ext cx="20482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$21B</a:t>
            </a:r>
            <a:endParaRPr lang="en-US" sz="3200" dirty="0"/>
          </a:p>
        </p:txBody>
      </p:sp>
      <p:sp>
        <p:nvSpPr>
          <p:cNvPr id="11" name="Caption $21B"/>
          <p:cNvSpPr txBox="1"/>
          <p:nvPr/>
        </p:nvSpPr>
        <p:spPr>
          <a:xfrm>
            <a:off x="6318504" y="38404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Robotics AI software market (2025) - total spend on robot intelligence</a:t>
            </a:r>
            <a:endParaRPr lang="en-US" sz="1100" dirty="0"/>
          </a:p>
        </p:txBody>
      </p:sp>
      <p:sp>
        <p:nvSpPr>
          <p:cNvPr id="12" name="Sources"/>
          <p:cNvSpPr txBox="1"/>
          <p:nvPr/>
        </p:nvSpPr>
        <p:spPr>
          <a:xfrm>
            <a:off x="210312" y="4846320"/>
            <a:ext cx="7772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2"/>
                </a:solidFill>
              </a:rPr>
              <a:t>Sources: Marketintelo, Robot Simulation Software Market (2025); MarketsandMarkets, Humanoid Robot Market (2025-2030) and Robotics AI Software Market (2025).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Market Size Deep-dive - Legged &amp; Humanoid Robots</a:t>
            </a:r>
            <a:endParaRPr lang="en-US" sz="1200" dirty="0"/>
          </a:p>
        </p:txBody>
      </p:sp>
      <p:sp>
        <p:nvSpPr>
          <p:cNvPr id="3" name="Ring 10K+"/>
          <p:cNvSpPr/>
          <p:nvPr/>
        </p:nvSpPr>
        <p:spPr>
          <a:xfrm>
            <a:off x="301752" y="932688"/>
            <a:ext cx="3840480" cy="3840480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4" name="Ring 2K"/>
          <p:cNvSpPr/>
          <p:nvPr/>
        </p:nvSpPr>
        <p:spPr>
          <a:xfrm>
            <a:off x="722376" y="1773936"/>
            <a:ext cx="2999232" cy="2999232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5" name="Ring 500"/>
          <p:cNvSpPr/>
          <p:nvPr/>
        </p:nvSpPr>
        <p:spPr>
          <a:xfrm>
            <a:off x="1124712" y="2578608"/>
            <a:ext cx="2194560" cy="2194560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6" name="Ring 50"/>
          <p:cNvSpPr/>
          <p:nvPr/>
        </p:nvSpPr>
        <p:spPr>
          <a:xfrm>
            <a:off x="1618488" y="3566160"/>
            <a:ext cx="1207008" cy="1207008"/>
          </a:xfrm>
          <a:prstGeom prst="ellipse">
            <a:avLst/>
          </a:prstGeom>
          <a:ln w="9525">
            <a:solidFill>
              <a:schemeClr val="tx1"/>
            </a:solidFill>
            <a:prstDash val="solid"/>
          </a:ln>
        </p:spPr>
      </p:sp>
      <p:sp>
        <p:nvSpPr>
          <p:cNvPr id="7" name="Ring label 10K+"/>
          <p:cNvSpPr txBox="1"/>
          <p:nvPr/>
        </p:nvSpPr>
        <p:spPr>
          <a:xfrm>
            <a:off x="1033272" y="11887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10K+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Teams building autonomous robots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Total Available Market</a:t>
            </a:r>
            <a:endParaRPr lang="en-US" sz="1200" dirty="0"/>
          </a:p>
        </p:txBody>
      </p:sp>
      <p:sp>
        <p:nvSpPr>
          <p:cNvPr id="8" name="Ring label 2K"/>
          <p:cNvSpPr txBox="1"/>
          <p:nvPr/>
        </p:nvSpPr>
        <p:spPr>
          <a:xfrm>
            <a:off x="1033272" y="19202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2K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Teams training RL policies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Serviceable Available Market</a:t>
            </a:r>
            <a:endParaRPr lang="en-US" sz="1200" dirty="0"/>
          </a:p>
        </p:txBody>
      </p:sp>
      <p:sp>
        <p:nvSpPr>
          <p:cNvPr id="9" name="Ring label 500"/>
          <p:cNvSpPr txBox="1"/>
          <p:nvPr/>
        </p:nvSpPr>
        <p:spPr>
          <a:xfrm>
            <a:off x="1033272" y="29260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500</a:t>
            </a:r>
            <a:endParaRPr lang="en-US" sz="1200" dirty="0"/>
          </a:p>
          <a:p>
            <a:pPr algn="ctr" indent="0" marL="0">
              <a:buNone/>
            </a:pPr>
            <a:r>
              <a:rPr lang="en-US" sz="1150" dirty="0">
                <a:solidFill>
                  <a:schemeClr val="accent1"/>
                </a:solidFill>
              </a:rPr>
              <a:t>Legged &amp; humanoid teams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chemeClr val="accent2"/>
                </a:solidFill>
              </a:rPr>
              <a:t>Serviceable Obtainable Market</a:t>
            </a:r>
            <a:endParaRPr lang="en-US" sz="1200" dirty="0"/>
          </a:p>
        </p:txBody>
      </p:sp>
      <p:sp>
        <p:nvSpPr>
          <p:cNvPr id="10" name="Ring label 50"/>
          <p:cNvSpPr txBox="1"/>
          <p:nvPr/>
        </p:nvSpPr>
        <p:spPr>
          <a:xfrm>
            <a:off x="1673352" y="3822192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50</a:t>
            </a:r>
            <a:endParaRPr lang="en-US" sz="120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Teams on MuJoCo / Isaac Lab today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2"/>
                </a:solidFill>
              </a:rPr>
              <a:t>Immediate Market</a:t>
            </a:r>
            <a:endParaRPr lang="en-US" sz="1200" dirty="0"/>
          </a:p>
        </p:txBody>
      </p:sp>
      <p:sp>
        <p:nvSpPr>
          <p:cNvPr id="11" name="Arrow to volume"/>
          <p:cNvSpPr/>
          <p:nvPr/>
        </p:nvSpPr>
        <p:spPr>
          <a:xfrm>
            <a:off x="2286000" y="2578608"/>
            <a:ext cx="214884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2" name="Volume"/>
          <p:cNvSpPr txBox="1"/>
          <p:nvPr/>
        </p:nvSpPr>
        <p:spPr>
          <a:xfrm>
            <a:off x="4480560" y="2423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chemeClr val="tx1"/>
                </a:solidFill>
              </a:rPr>
              <a:t>10K gate runs / month</a:t>
            </a:r>
            <a:endParaRPr lang="en-US" sz="1450" dirty="0"/>
          </a:p>
        </p:txBody>
      </p:sp>
      <p:sp>
        <p:nvSpPr>
          <p:cNvPr id="13" name="Arrow to revenue"/>
          <p:cNvSpPr/>
          <p:nvPr/>
        </p:nvSpPr>
        <p:spPr>
          <a:xfrm>
            <a:off x="6629400" y="2578608"/>
            <a:ext cx="41148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tailEnd type="triangle"/>
          </a:ln>
        </p:spPr>
      </p:sp>
      <p:sp>
        <p:nvSpPr>
          <p:cNvPr id="14" name="Revenue"/>
          <p:cNvSpPr txBox="1"/>
          <p:nvPr/>
        </p:nvSpPr>
        <p:spPr>
          <a:xfrm>
            <a:off x="708660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$60M / year</a:t>
            </a:r>
            <a:endParaRPr lang="en-US" sz="1600" dirty="0"/>
          </a:p>
        </p:txBody>
      </p:sp>
      <p:sp>
        <p:nvSpPr>
          <p:cNvPr id="15" name="Usage note"/>
          <p:cNvSpPr txBox="1"/>
          <p:nvPr/>
        </p:nvSpPr>
        <p:spPr>
          <a:xfrm>
            <a:off x="4572000" y="31089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Usage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On average: ~20 candidate checkpoints per team per month, each gated on a 15-condition battery</a:t>
            </a:r>
            <a:endParaRPr lang="en-US" sz="1000" dirty="0"/>
          </a:p>
        </p:txBody>
      </p:sp>
      <p:sp>
        <p:nvSpPr>
          <p:cNvPr id="16" name="Revenue note"/>
          <p:cNvSpPr txBox="1"/>
          <p:nvPr/>
        </p:nvSpPr>
        <p:spPr>
          <a:xfrm>
            <a:off x="6903720" y="31089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Revenue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Assuming ~$120k per team per year - hosted CI, hardening and signed certification on top of the free engine</a:t>
            </a:r>
            <a:endParaRPr lang="en-US" sz="1000" dirty="0"/>
          </a:p>
        </p:txBody>
      </p:sp>
      <p:sp>
        <p:nvSpPr>
          <p:cNvPr id="17" name="Estimate note"/>
          <p:cNvSpPr txBox="1"/>
          <p:nvPr/>
        </p:nvSpPr>
        <p:spPr>
          <a:xfrm>
            <a:off x="4572000" y="48463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chemeClr val="accent2"/>
                </a:solidFill>
              </a:rPr>
              <a:t>Team counts and pricing are internal estimates.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Our Start - Legged Robots</a:t>
            </a:r>
            <a:endParaRPr lang="en-US" sz="1200" dirty="0"/>
          </a:p>
        </p:txBody>
      </p:sp>
      <p:sp>
        <p:nvSpPr>
          <p:cNvPr id="3" name="Rule top 0%"/>
          <p:cNvSpPr/>
          <p:nvPr/>
        </p:nvSpPr>
        <p:spPr>
          <a:xfrm>
            <a:off x="1335024" y="896112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4" name="Label 0%"/>
          <p:cNvSpPr txBox="1"/>
          <p:nvPr/>
        </p:nvSpPr>
        <p:spPr>
          <a:xfrm>
            <a:off x="1335024" y="9692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Go1 policy at nominal conditions</a:t>
            </a:r>
            <a:endParaRPr lang="en-US" sz="1200" dirty="0"/>
          </a:p>
        </p:txBody>
      </p:sp>
      <p:sp>
        <p:nvSpPr>
          <p:cNvPr id="5" name="Stat 0%"/>
          <p:cNvSpPr txBox="1"/>
          <p:nvPr/>
        </p:nvSpPr>
        <p:spPr>
          <a:xfrm>
            <a:off x="1335024" y="12984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0%</a:t>
            </a:r>
            <a:endParaRPr lang="en-US" sz="4400" dirty="0"/>
          </a:p>
        </p:txBody>
      </p:sp>
      <p:sp>
        <p:nvSpPr>
          <p:cNvPr id="6" name="Arrow 0%"/>
          <p:cNvSpPr txBox="1"/>
          <p:nvPr/>
        </p:nvSpPr>
        <p:spPr>
          <a:xfrm>
            <a:off x="1335024" y="19751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⟶</a:t>
            </a:r>
            <a:endParaRPr lang="en-US" sz="1200" dirty="0"/>
          </a:p>
        </p:txBody>
      </p:sp>
      <p:sp>
        <p:nvSpPr>
          <p:cNvPr id="7" name="Note 0%"/>
          <p:cNvSpPr txBox="1"/>
          <p:nvPr/>
        </p:nvSpPr>
        <p:spPr>
          <a:xfrm>
            <a:off x="1609344" y="19751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0 of 64 nominal rollouts fall - it passes every standard check</a:t>
            </a:r>
            <a:endParaRPr lang="en-US" sz="1200" dirty="0"/>
          </a:p>
        </p:txBody>
      </p:sp>
      <p:sp>
        <p:nvSpPr>
          <p:cNvPr id="8" name="Rule bottom 0%"/>
          <p:cNvSpPr/>
          <p:nvPr/>
        </p:nvSpPr>
        <p:spPr>
          <a:xfrm>
            <a:off x="1335024" y="2651760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9" name="Rule top 75%"/>
          <p:cNvSpPr/>
          <p:nvPr/>
        </p:nvSpPr>
        <p:spPr>
          <a:xfrm>
            <a:off x="4782312" y="896112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0" name="Label 75%"/>
          <p:cNvSpPr txBox="1"/>
          <p:nvPr/>
        </p:nvSpPr>
        <p:spPr>
          <a:xfrm>
            <a:off x="4782312" y="96926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Same policy with 40 ms of latency</a:t>
            </a:r>
            <a:endParaRPr lang="en-US" sz="1200" dirty="0"/>
          </a:p>
        </p:txBody>
      </p:sp>
      <p:sp>
        <p:nvSpPr>
          <p:cNvPr id="11" name="Stat 75%"/>
          <p:cNvSpPr txBox="1"/>
          <p:nvPr/>
        </p:nvSpPr>
        <p:spPr>
          <a:xfrm>
            <a:off x="4782312" y="1298448"/>
            <a:ext cx="2788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chemeClr val="tx1"/>
                </a:solidFill>
              </a:rPr>
              <a:t>75%</a:t>
            </a:r>
            <a:endParaRPr lang="en-US" sz="4400" dirty="0"/>
          </a:p>
        </p:txBody>
      </p:sp>
      <p:sp>
        <p:nvSpPr>
          <p:cNvPr id="12" name="Arrow 75%"/>
          <p:cNvSpPr txBox="1"/>
          <p:nvPr/>
        </p:nvSpPr>
        <p:spPr>
          <a:xfrm>
            <a:off x="4782312" y="19751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⟶</a:t>
            </a:r>
            <a:endParaRPr lang="en-US" sz="1200" dirty="0"/>
          </a:p>
        </p:txBody>
      </p:sp>
      <p:sp>
        <p:nvSpPr>
          <p:cNvPr id="13" name="Note 75%"/>
          <p:cNvSpPr txBox="1"/>
          <p:nvPr/>
        </p:nvSpPr>
        <p:spPr>
          <a:xfrm>
            <a:off x="5056632" y="19751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3 of 4 rollouts fall. </a:t>
            </a:r>
            <a:r>
              <a:rPr lang="en-US" sz="1200" b="1" dirty="0">
                <a:solidFill>
                  <a:schemeClr val="accent1"/>
                </a:solidFill>
              </a:rPr>
              <a:t>One latency spike takes the robot down!</a:t>
            </a:r>
            <a:endParaRPr lang="en-US" sz="1200" dirty="0"/>
          </a:p>
        </p:txBody>
      </p:sp>
      <p:sp>
        <p:nvSpPr>
          <p:cNvPr id="14" name="Rule bottom 75%"/>
          <p:cNvSpPr/>
          <p:nvPr/>
        </p:nvSpPr>
        <p:spPr>
          <a:xfrm>
            <a:off x="4782312" y="2651760"/>
            <a:ext cx="2788920" cy="0"/>
          </a:xfrm>
          <a:prstGeom prst="line">
            <a:avLst/>
          </a:prstGeom>
          <a:noFill/>
          <a:ln w="12700">
            <a:solidFill>
              <a:schemeClr val="accent3"/>
            </a:solidFill>
            <a:prstDash val="solid"/>
          </a:ln>
        </p:spPr>
      </p:sp>
      <p:sp>
        <p:nvSpPr>
          <p:cNvPr id="15" name="Insights title"/>
          <p:cNvSpPr txBox="1"/>
          <p:nvPr/>
        </p:nvSpPr>
        <p:spPr>
          <a:xfrm>
            <a:off x="2743200" y="2944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16" name="Insight 1"/>
          <p:cNvSpPr txBox="1"/>
          <p:nvPr/>
        </p:nvSpPr>
        <p:spPr>
          <a:xfrm>
            <a:off x="2377440" y="33649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Teams ship policies that </a:t>
            </a:r>
            <a:r>
              <a:rPr lang="en-US" sz="1400" b="1" dirty="0">
                <a:solidFill>
                  <a:schemeClr val="accent1"/>
                </a:solidFill>
              </a:rPr>
              <a:t>pass nominal tests but break</a:t>
            </a:r>
            <a:r>
              <a:rPr lang="en-US" sz="1400" dirty="0">
                <a:solidFill>
                  <a:schemeClr val="tx1"/>
                </a:solidFill>
              </a:rPr>
              <a:t> in conditions they never sampled</a:t>
            </a:r>
            <a:endParaRPr lang="en-US" sz="1400" dirty="0"/>
          </a:p>
        </p:txBody>
      </p:sp>
      <p:sp>
        <p:nvSpPr>
          <p:cNvPr id="17" name="Insight 2"/>
          <p:cNvSpPr txBox="1"/>
          <p:nvPr/>
        </p:nvSpPr>
        <p:spPr>
          <a:xfrm>
            <a:off x="2377440" y="387705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b="1" dirty="0">
                <a:solidFill>
                  <a:schemeClr val="accent1"/>
                </a:solidFill>
              </a:rPr>
              <a:t>Directed search</a:t>
            </a:r>
            <a:r>
              <a:rPr lang="en-US" sz="1400" dirty="0">
                <a:solidFill>
                  <a:schemeClr val="tx1"/>
                </a:solidFill>
              </a:rPr>
              <a:t> finds closer, more plausible failures than random evaluation at equal budget</a:t>
            </a:r>
            <a:endParaRPr lang="en-US" sz="1400" dirty="0"/>
          </a:p>
        </p:txBody>
      </p:sp>
      <p:sp>
        <p:nvSpPr>
          <p:cNvPr id="18" name="Insight 3"/>
          <p:cNvSpPr txBox="1"/>
          <p:nvPr/>
        </p:nvSpPr>
        <p:spPr>
          <a:xfrm>
            <a:off x="2377440" y="4389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rating and gate run builds a </a:t>
            </a:r>
            <a:r>
              <a:rPr lang="en-US" sz="1400" b="1" dirty="0">
                <a:solidFill>
                  <a:schemeClr val="accent1"/>
                </a:solidFill>
              </a:rPr>
              <a:t>failure dataset</a:t>
            </a:r>
            <a:r>
              <a:rPr lang="en-US" sz="1400" dirty="0">
                <a:solidFill>
                  <a:schemeClr val="tx1"/>
                </a:solidFill>
              </a:rPr>
              <a:t> that compounds into long-term defensibility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Competition</a:t>
            </a:r>
            <a:endParaRPr lang="en-US" sz="1200" dirty="0"/>
          </a:p>
        </p:txBody>
      </p:sp>
      <p:sp>
        <p:nvSpPr>
          <p:cNvPr id="3" name="Y axis"/>
          <p:cNvSpPr/>
          <p:nvPr/>
        </p:nvSpPr>
        <p:spPr>
          <a:xfrm flipV="1">
            <a:off x="4562856" y="868680"/>
            <a:ext cx="0" cy="393192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4" name="X axis"/>
          <p:cNvSpPr/>
          <p:nvPr/>
        </p:nvSpPr>
        <p:spPr>
          <a:xfrm>
            <a:off x="1682496" y="2798064"/>
            <a:ext cx="5788152" cy="0"/>
          </a:xfrm>
          <a:prstGeom prst="line">
            <a:avLst/>
          </a:prstGeom>
          <a:noFill/>
          <a:ln w="2540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5" name="Y label"/>
          <p:cNvSpPr txBox="1"/>
          <p:nvPr/>
        </p:nvSpPr>
        <p:spPr>
          <a:xfrm>
            <a:off x="3657600" y="841248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Finds real failures</a:t>
            </a:r>
            <a:endParaRPr lang="en-US" sz="1100" dirty="0"/>
          </a:p>
        </p:txBody>
      </p:sp>
      <p:sp>
        <p:nvSpPr>
          <p:cNvPr id="6" name="X label"/>
          <p:cNvSpPr txBox="1"/>
          <p:nvPr/>
        </p:nvSpPr>
        <p:spPr>
          <a:xfrm>
            <a:off x="6309360" y="29718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CI-native &amp; fast</a:t>
            </a:r>
            <a:endParaRPr lang="en-US" sz="1100" dirty="0"/>
          </a:p>
        </p:txBody>
      </p:sp>
      <p:sp>
        <p:nvSpPr>
          <p:cNvPr id="7" name="TL players"/>
          <p:cNvSpPr txBox="1"/>
          <p:nvPr/>
        </p:nvSpPr>
        <p:spPr>
          <a:xfrm>
            <a:off x="1737360" y="13716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Field tests  ·  TÜV SÜD  ·  UL Solutions</a:t>
            </a:r>
            <a:endParaRPr lang="en-US" sz="1100" dirty="0"/>
          </a:p>
        </p:txBody>
      </p:sp>
      <p:sp>
        <p:nvSpPr>
          <p:cNvPr id="8" name="TL desc"/>
          <p:cNvSpPr txBox="1"/>
          <p:nvPr/>
        </p:nvSpPr>
        <p:spPr>
          <a:xfrm>
            <a:off x="1737360" y="16916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Physical testing &amp; safety audits - real, but slow and late</a:t>
            </a:r>
            <a:endParaRPr lang="en-US" sz="950" dirty="0"/>
          </a:p>
        </p:txBody>
      </p:sp>
      <p:sp>
        <p:nvSpPr>
          <p:cNvPr id="9" name="Inoki mark"/>
          <p:cNvSpPr/>
          <p:nvPr/>
        </p:nvSpPr>
        <p:spPr>
          <a:xfrm>
            <a:off x="5943600" y="1280160"/>
            <a:ext cx="411480" cy="411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0" name="Inoki mark text"/>
          <p:cNvSpPr txBox="1"/>
          <p:nvPr/>
        </p:nvSpPr>
        <p:spPr>
          <a:xfrm>
            <a:off x="594360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IL</a:t>
            </a:r>
            <a:endParaRPr lang="en-US" sz="1400" dirty="0"/>
          </a:p>
        </p:txBody>
      </p:sp>
      <p:sp>
        <p:nvSpPr>
          <p:cNvPr id="11" name="TR desc"/>
          <p:cNvSpPr txBox="1"/>
          <p:nvPr/>
        </p:nvSpPr>
        <p:spPr>
          <a:xfrm>
            <a:off x="5532120" y="18288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Directed failure search, CI-native, signed results</a:t>
            </a:r>
            <a:endParaRPr lang="en-US" sz="950" dirty="0"/>
          </a:p>
        </p:txBody>
      </p:sp>
      <p:sp>
        <p:nvSpPr>
          <p:cNvPr id="12" name="Sim players"/>
          <p:cNvSpPr txBox="1"/>
          <p:nvPr/>
        </p:nvSpPr>
        <p:spPr>
          <a:xfrm>
            <a:off x="2651760" y="248716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Isaac Sim  ·  Gazebo</a:t>
            </a:r>
            <a:endParaRPr lang="en-US" sz="1000" dirty="0"/>
          </a:p>
        </p:txBody>
      </p:sp>
      <p:sp>
        <p:nvSpPr>
          <p:cNvPr id="13" name="Sim desc"/>
          <p:cNvSpPr txBox="1"/>
          <p:nvPr/>
        </p:nvSpPr>
        <p:spPr>
          <a:xfrm>
            <a:off x="3200400" y="29260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Simulators with hand-scripted test scenarios</a:t>
            </a:r>
            <a:endParaRPr lang="en-US" sz="950" dirty="0"/>
          </a:p>
        </p:txBody>
      </p:sp>
      <p:sp>
        <p:nvSpPr>
          <p:cNvPr id="14" name="AV player"/>
          <p:cNvSpPr txBox="1"/>
          <p:nvPr/>
        </p:nvSpPr>
        <p:spPr>
          <a:xfrm>
            <a:off x="4663440" y="288036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Foretellix</a:t>
            </a:r>
            <a:endParaRPr lang="en-US" sz="1000" dirty="0"/>
          </a:p>
        </p:txBody>
      </p:sp>
      <p:sp>
        <p:nvSpPr>
          <p:cNvPr id="15" name="AV desc"/>
          <p:cNvSpPr txBox="1"/>
          <p:nvPr/>
        </p:nvSpPr>
        <p:spPr>
          <a:xfrm>
            <a:off x="4663440" y="3081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(scenario testing for cars, not robot policies)</a:t>
            </a:r>
            <a:endParaRPr lang="en-US" sz="800" dirty="0"/>
          </a:p>
        </p:txBody>
      </p:sp>
      <p:sp>
        <p:nvSpPr>
          <p:cNvPr id="16" name="BR players"/>
          <p:cNvSpPr txBox="1"/>
          <p:nvPr/>
        </p:nvSpPr>
        <p:spPr>
          <a:xfrm>
            <a:off x="5120640" y="38404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Random DR eval  ·  Benchmark suites</a:t>
            </a:r>
            <a:endParaRPr lang="en-US" sz="1100" dirty="0"/>
          </a:p>
        </p:txBody>
      </p:sp>
      <p:sp>
        <p:nvSpPr>
          <p:cNvPr id="17" name="BR desc"/>
          <p:cNvSpPr txBox="1"/>
          <p:nvPr/>
        </p:nvSpPr>
        <p:spPr>
          <a:xfrm>
            <a:off x="5486400" y="41605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2"/>
                </a:solidFill>
              </a:rPr>
              <a:t>Random sampling - fast, but misses the failures that matter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822960" y="1371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Competitive Advantage - Research</a:t>
            </a:r>
            <a:endParaRPr lang="en-US" sz="1200" dirty="0"/>
          </a:p>
        </p:txBody>
      </p:sp>
      <p:sp>
        <p:nvSpPr>
          <p:cNvPr id="3" name="Advantage lead"/>
          <p:cNvSpPr txBox="1"/>
          <p:nvPr/>
        </p:nvSpPr>
        <p:spPr>
          <a:xfrm>
            <a:off x="219456" y="7772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New way to test robot policies -</a:t>
            </a:r>
            <a:r>
              <a:rPr lang="en-US" sz="1300" dirty="0">
                <a:solidFill>
                  <a:schemeClr val="tx1"/>
                </a:solidFill>
              </a:rPr>
              <a:t> search for failures instead of sampling them</a:t>
            </a:r>
            <a:endParaRPr lang="en-US" sz="1300" dirty="0"/>
          </a:p>
        </p:txBody>
      </p:sp>
      <p:sp>
        <p:nvSpPr>
          <p:cNvPr id="4" name="Advantage 1"/>
          <p:cNvSpPr txBox="1"/>
          <p:nvPr/>
        </p:nvSpPr>
        <p:spPr>
          <a:xfrm>
            <a:off x="219456" y="137160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Instead of random domain randomization we treat the parameter space as a </a:t>
            </a:r>
            <a:r>
              <a:rPr lang="en-US" sz="1300" b="1" dirty="0">
                <a:solidFill>
                  <a:schemeClr val="accent1"/>
                </a:solidFill>
              </a:rPr>
              <a:t>search space and optimize for falls</a:t>
            </a:r>
            <a:r>
              <a:rPr lang="en-US" sz="1300" dirty="0">
                <a:solidFill>
                  <a:schemeClr val="tx1"/>
                </a:solidFill>
              </a:rPr>
              <a:t> - one generation is one batched rollout.</a:t>
            </a:r>
            <a:endParaRPr lang="en-US" sz="1300" dirty="0"/>
          </a:p>
        </p:txBody>
      </p:sp>
      <p:sp>
        <p:nvSpPr>
          <p:cNvPr id="5" name="Advantage 2"/>
          <p:cNvSpPr txBox="1"/>
          <p:nvPr/>
        </p:nvSpPr>
        <p:spPr>
          <a:xfrm>
            <a:off x="219456" y="22860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Evidence layers</a:t>
            </a:r>
            <a:r>
              <a:rPr lang="en-US" sz="1300" dirty="0">
                <a:solidFill>
                  <a:schemeClr val="tx1"/>
                </a:solidFill>
              </a:rPr>
              <a:t> on every failure:</a:t>
            </a:r>
            <a:endParaRPr lang="en-US" sz="1300" dirty="0"/>
          </a:p>
        </p:txBody>
      </p:sp>
      <p:sp>
        <p:nvSpPr>
          <p:cNvPr id="6" name="Advantage 2a"/>
          <p:cNvSpPr txBox="1"/>
          <p:nvPr/>
        </p:nvSpPr>
        <p:spPr>
          <a:xfrm>
            <a:off x="585216" y="25786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physical validity gate</a:t>
            </a:r>
            <a:r>
              <a:rPr lang="en-US" sz="1300" dirty="0">
                <a:solidFill>
                  <a:schemeClr val="tx1"/>
                </a:solidFill>
              </a:rPr>
              <a:t> - simulator artifacts never count as failures</a:t>
            </a:r>
            <a:endParaRPr lang="en-US" sz="1300" dirty="0"/>
          </a:p>
        </p:txBody>
      </p:sp>
      <p:sp>
        <p:nvSpPr>
          <p:cNvPr id="7" name="Advantage 2b"/>
          <p:cNvSpPr txBox="1"/>
          <p:nvPr/>
        </p:nvSpPr>
        <p:spPr>
          <a:xfrm>
            <a:off x="585216" y="30175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cross-engine replay</a:t>
            </a:r>
            <a:r>
              <a:rPr lang="en-US" sz="1300" dirty="0">
                <a:solidFill>
                  <a:schemeClr val="tx1"/>
                </a:solidFill>
              </a:rPr>
              <a:t> - each failure re-run in C MuJoCo with a different contact model</a:t>
            </a:r>
            <a:endParaRPr lang="en-US" sz="1300" dirty="0"/>
          </a:p>
        </p:txBody>
      </p:sp>
      <p:sp>
        <p:nvSpPr>
          <p:cNvPr id="8" name="Advantage 3"/>
          <p:cNvSpPr txBox="1"/>
          <p:nvPr/>
        </p:nvSpPr>
        <p:spPr>
          <a:xfrm>
            <a:off x="219456" y="35661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chemeClr val="accent1"/>
                </a:solidFill>
              </a:rPr>
              <a:t>Open core, paid fix</a:t>
            </a:r>
            <a:r>
              <a:rPr lang="en-US" sz="1300" dirty="0">
                <a:solidFill>
                  <a:schemeClr val="tx1"/>
                </a:solidFill>
              </a:rPr>
              <a:t> - the free engine builds the funnel; hardening and Inoki-signed certification are the business</a:t>
            </a:r>
            <a:endParaRPr lang="en-US" sz="1300" dirty="0"/>
          </a:p>
        </p:txBody>
      </p:sp>
      <p:sp>
        <p:nvSpPr>
          <p:cNvPr id="9" name="Box policy"/>
          <p:cNvSpPr/>
          <p:nvPr/>
        </p:nvSpPr>
        <p:spPr>
          <a:xfrm>
            <a:off x="6099048" y="704088"/>
            <a:ext cx="1207008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10" name="Box policy text"/>
          <p:cNvSpPr txBox="1"/>
          <p:nvPr/>
        </p:nvSpPr>
        <p:spPr>
          <a:xfrm>
            <a:off x="6144768" y="704088"/>
            <a:ext cx="11155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Trained policy</a:t>
            </a:r>
            <a:endParaRPr lang="en-US" sz="1100" dirty="0"/>
          </a:p>
        </p:txBody>
      </p:sp>
      <p:sp>
        <p:nvSpPr>
          <p:cNvPr id="11" name="Box search"/>
          <p:cNvSpPr/>
          <p:nvPr/>
        </p:nvSpPr>
        <p:spPr>
          <a:xfrm>
            <a:off x="6099048" y="1463040"/>
            <a:ext cx="1207008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12" name="Box search text"/>
          <p:cNvSpPr txBox="1"/>
          <p:nvPr/>
        </p:nvSpPr>
        <p:spPr>
          <a:xfrm>
            <a:off x="6144768" y="1463040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Batched MJX search</a:t>
            </a:r>
            <a:endParaRPr lang="en-US" sz="1100" dirty="0"/>
          </a:p>
        </p:txBody>
      </p:sp>
      <p:sp>
        <p:nvSpPr>
          <p:cNvPr id="13" name="Con 1"/>
          <p:cNvSpPr/>
          <p:nvPr/>
        </p:nvSpPr>
        <p:spPr>
          <a:xfrm>
            <a:off x="6702552" y="1207008"/>
            <a:ext cx="0" cy="256032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4" name="Branch L"/>
          <p:cNvSpPr/>
          <p:nvPr/>
        </p:nvSpPr>
        <p:spPr>
          <a:xfrm>
            <a:off x="5221224" y="1728216"/>
            <a:ext cx="877824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5" name="Branch R"/>
          <p:cNvSpPr/>
          <p:nvPr/>
        </p:nvSpPr>
        <p:spPr>
          <a:xfrm>
            <a:off x="7306056" y="1728216"/>
            <a:ext cx="950976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16" name="Drop 0"/>
          <p:cNvSpPr/>
          <p:nvPr/>
        </p:nvSpPr>
        <p:spPr>
          <a:xfrm>
            <a:off x="5221224" y="1728216"/>
            <a:ext cx="0" cy="493776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17" name="Box Failure families"/>
          <p:cNvSpPr/>
          <p:nvPr/>
        </p:nvSpPr>
        <p:spPr>
          <a:xfrm>
            <a:off x="4617720" y="2221992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18" name="Box Failure families text"/>
          <p:cNvSpPr txBox="1"/>
          <p:nvPr/>
        </p:nvSpPr>
        <p:spPr>
          <a:xfrm>
            <a:off x="4663440" y="222199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Failure families</a:t>
            </a:r>
            <a:endParaRPr lang="en-US" sz="1100" dirty="0"/>
          </a:p>
        </p:txBody>
      </p:sp>
      <p:sp>
        <p:nvSpPr>
          <p:cNvPr id="19" name="Con r4 0"/>
          <p:cNvSpPr/>
          <p:nvPr/>
        </p:nvSpPr>
        <p:spPr>
          <a:xfrm>
            <a:off x="5221224" y="2880360"/>
            <a:ext cx="0" cy="23774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0" name="Box Minimal causes"/>
          <p:cNvSpPr/>
          <p:nvPr/>
        </p:nvSpPr>
        <p:spPr>
          <a:xfrm>
            <a:off x="4617720" y="3118104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21" name="Box Minimal causes text"/>
          <p:cNvSpPr txBox="1"/>
          <p:nvPr/>
        </p:nvSpPr>
        <p:spPr>
          <a:xfrm>
            <a:off x="4663440" y="311810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Minimal causes</a:t>
            </a:r>
            <a:endParaRPr lang="en-US" sz="1100" dirty="0"/>
          </a:p>
        </p:txBody>
      </p:sp>
      <p:sp>
        <p:nvSpPr>
          <p:cNvPr id="22" name="Rise 0"/>
          <p:cNvSpPr/>
          <p:nvPr/>
        </p:nvSpPr>
        <p:spPr>
          <a:xfrm>
            <a:off x="5221224" y="3776472"/>
            <a:ext cx="0" cy="210312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23" name="Drop 1"/>
          <p:cNvSpPr/>
          <p:nvPr/>
        </p:nvSpPr>
        <p:spPr>
          <a:xfrm>
            <a:off x="6702552" y="1993392"/>
            <a:ext cx="0" cy="22860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4" name="Box Plausibility ranking"/>
          <p:cNvSpPr/>
          <p:nvPr/>
        </p:nvSpPr>
        <p:spPr>
          <a:xfrm>
            <a:off x="6099048" y="2221992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25" name="Box Plausibility ranking text"/>
          <p:cNvSpPr txBox="1"/>
          <p:nvPr/>
        </p:nvSpPr>
        <p:spPr>
          <a:xfrm>
            <a:off x="6144768" y="222199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Plausibility ranking</a:t>
            </a:r>
            <a:endParaRPr lang="en-US" sz="1100" dirty="0"/>
          </a:p>
        </p:txBody>
      </p:sp>
      <p:sp>
        <p:nvSpPr>
          <p:cNvPr id="26" name="Con r4 1"/>
          <p:cNvSpPr/>
          <p:nvPr/>
        </p:nvSpPr>
        <p:spPr>
          <a:xfrm>
            <a:off x="6702552" y="2880360"/>
            <a:ext cx="0" cy="23774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27" name="Box Ratings &amp; 95% CIs"/>
          <p:cNvSpPr/>
          <p:nvPr/>
        </p:nvSpPr>
        <p:spPr>
          <a:xfrm>
            <a:off x="6099048" y="3118104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28" name="Box Ratings &amp;amp; 95% CIs text"/>
          <p:cNvSpPr txBox="1"/>
          <p:nvPr/>
        </p:nvSpPr>
        <p:spPr>
          <a:xfrm>
            <a:off x="6144768" y="311810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Ratings &amp; 95% CIs</a:t>
            </a:r>
            <a:endParaRPr lang="en-US" sz="1100" dirty="0"/>
          </a:p>
        </p:txBody>
      </p:sp>
      <p:sp>
        <p:nvSpPr>
          <p:cNvPr id="29" name="Rise 1"/>
          <p:cNvSpPr/>
          <p:nvPr/>
        </p:nvSpPr>
        <p:spPr>
          <a:xfrm>
            <a:off x="6702552" y="3776472"/>
            <a:ext cx="0" cy="210312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30" name="Drop 2"/>
          <p:cNvSpPr/>
          <p:nvPr/>
        </p:nvSpPr>
        <p:spPr>
          <a:xfrm>
            <a:off x="8257032" y="1728216"/>
            <a:ext cx="0" cy="493776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1" name="Box Cross-engine replay"/>
          <p:cNvSpPr/>
          <p:nvPr/>
        </p:nvSpPr>
        <p:spPr>
          <a:xfrm>
            <a:off x="7653528" y="2221992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32" name="Box Cross-engine replay text"/>
          <p:cNvSpPr txBox="1"/>
          <p:nvPr/>
        </p:nvSpPr>
        <p:spPr>
          <a:xfrm>
            <a:off x="7699248" y="222199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Cross-engine replay</a:t>
            </a:r>
            <a:endParaRPr lang="en-US" sz="1100" dirty="0"/>
          </a:p>
        </p:txBody>
      </p:sp>
      <p:sp>
        <p:nvSpPr>
          <p:cNvPr id="33" name="Con r4 2"/>
          <p:cNvSpPr/>
          <p:nvPr/>
        </p:nvSpPr>
        <p:spPr>
          <a:xfrm>
            <a:off x="8257032" y="2880360"/>
            <a:ext cx="0" cy="237744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4" name="Box Signed attestation"/>
          <p:cNvSpPr/>
          <p:nvPr/>
        </p:nvSpPr>
        <p:spPr>
          <a:xfrm>
            <a:off x="7653528" y="3118104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35" name="Box Signed attestation text"/>
          <p:cNvSpPr txBox="1"/>
          <p:nvPr/>
        </p:nvSpPr>
        <p:spPr>
          <a:xfrm>
            <a:off x="7699248" y="3118104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Signed attestation</a:t>
            </a:r>
            <a:endParaRPr lang="en-US" sz="1100" dirty="0"/>
          </a:p>
        </p:txBody>
      </p:sp>
      <p:sp>
        <p:nvSpPr>
          <p:cNvPr id="36" name="Rise 2"/>
          <p:cNvSpPr/>
          <p:nvPr/>
        </p:nvSpPr>
        <p:spPr>
          <a:xfrm>
            <a:off x="8257032" y="3776472"/>
            <a:ext cx="0" cy="210312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37" name="Join"/>
          <p:cNvSpPr/>
          <p:nvPr/>
        </p:nvSpPr>
        <p:spPr>
          <a:xfrm>
            <a:off x="5221224" y="3986784"/>
            <a:ext cx="3035808" cy="0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</a:ln>
        </p:spPr>
      </p:sp>
      <p:sp>
        <p:nvSpPr>
          <p:cNvPr id="38" name="Con final"/>
          <p:cNvSpPr/>
          <p:nvPr/>
        </p:nvSpPr>
        <p:spPr>
          <a:xfrm>
            <a:off x="6702552" y="3986784"/>
            <a:ext cx="0" cy="201168"/>
          </a:xfrm>
          <a:prstGeom prst="line">
            <a:avLst/>
          </a:prstGeom>
          <a:noFill/>
          <a:ln w="9525">
            <a:solidFill>
              <a:srgbClr val="555555"/>
            </a:solidFill>
            <a:prstDash val="solid"/>
            <a:tailEnd type="triangle"/>
          </a:ln>
        </p:spPr>
      </p:sp>
      <p:sp>
        <p:nvSpPr>
          <p:cNvPr id="39" name="Box final"/>
          <p:cNvSpPr/>
          <p:nvPr/>
        </p:nvSpPr>
        <p:spPr>
          <a:xfrm>
            <a:off x="6099048" y="4187952"/>
            <a:ext cx="1207008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AFC3E6"/>
            </a:solidFill>
            <a:prstDash val="solid"/>
          </a:ln>
        </p:spPr>
      </p:sp>
      <p:sp>
        <p:nvSpPr>
          <p:cNvPr id="40" name="Box final text"/>
          <p:cNvSpPr txBox="1"/>
          <p:nvPr/>
        </p:nvSpPr>
        <p:spPr>
          <a:xfrm>
            <a:off x="6144768" y="4187952"/>
            <a:ext cx="1115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CI verdict &amp; hardening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641080" y="48737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oki Labs">
  <a:themeElements>
    <a:clrScheme name="Inoki Labs">
      <a:dk1>
        <a:srgbClr val="111111"/>
      </a:dk1>
      <a:lt1>
        <a:srgbClr val="FFFFFF"/>
      </a:lt1>
      <a:dk2>
        <a:srgbClr val="0A0A40"/>
      </a:dk2>
      <a:lt2>
        <a:srgbClr val="F2F4F8"/>
      </a:lt2>
      <a:accent1>
        <a:srgbClr val="4A7BD0"/>
      </a:accent1>
      <a:accent2>
        <a:srgbClr val="6B6B6B"/>
      </a:accent2>
      <a:accent3>
        <a:srgbClr val="5A5A5A"/>
      </a:accent3>
      <a:accent4>
        <a:srgbClr val="C9D6EE"/>
      </a:accent4>
      <a:accent5>
        <a:srgbClr val="2E2E2E"/>
      </a:accent5>
      <a:accent6>
        <a:srgbClr val="9AA3B2"/>
      </a:accent6>
      <a:hlink>
        <a:srgbClr val="4A7BD0"/>
      </a:hlink>
      <a:folHlink>
        <a:srgbClr val="4A7BD0"/>
      </a:folHlink>
    </a:clrScheme>
    <a:fontScheme name="Inoki Lab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Inoki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Inoki Labs - Pitch Deck</dc:title>
  <dc:subject>PptxGenJS Presentation</dc:subject>
  <dc:creator>Inoki Labs</dc:creator>
  <cp:lastModifiedBy>Inoki Labs</cp:lastModifiedBy>
  <cp:revision>1</cp:revision>
  <dcterms:created xsi:type="dcterms:W3CDTF">2026-10-18T04:04:08Z</dcterms:created>
  <dcterms:modified xsi:type="dcterms:W3CDTF">2026-10-18T04:04:08Z</dcterms:modified>
</cp:coreProperties>
</file>