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PRE-SEED · OCTOBER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3000" y="304800"/>
            <a:ext cx="2298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BACKED BY</a:t>
            </a:r>
            <a:endParaRPr lang="en-US" sz="1650" dirty="0"/>
          </a:p>
        </p:txBody>
      </p:sp>
      <p:pic>
        <p:nvPicPr>
          <p:cNvPr id="4" name="Image 0" descr="Antl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0450" y="266700"/>
            <a:ext cx="142875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1079500"/>
            <a:ext cx="952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0"/>
              </a:lnSpc>
              <a:buNone/>
            </a:pPr>
            <a:r>
              <a:rPr lang="en-US" sz="9000" b="1" spc="-3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Inoki Labs</a:t>
            </a:r>
            <a:endParaRPr lang="en-US" sz="90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2368550"/>
            <a:ext cx="749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spc="-50" kern="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find where a robot's AI breaks, in simulation, before it breaks on real hardware.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4290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TESTED IN SIMULATION ON</a:t>
            </a:r>
            <a:endParaRPr lang="en-US" sz="1100" dirty="0"/>
          </a:p>
        </p:txBody>
      </p:sp>
      <p:pic>
        <p:nvPicPr>
          <p:cNvPr id="8" name="Image 1" descr="Unitree Go1 (simulation model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629150"/>
            <a:ext cx="1562100" cy="1270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4850" y="600075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Unitree Go1</a:t>
            </a:r>
            <a:endParaRPr lang="en-US" sz="1100" dirty="0"/>
          </a:p>
        </p:txBody>
      </p:sp>
      <p:pic>
        <p:nvPicPr>
          <p:cNvPr id="10" name="Image 2" descr="Boston Dynamics Spot (simulation model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4500" y="4565650"/>
            <a:ext cx="1695450" cy="13335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943225" y="600075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Boston Dynamics Spot</a:t>
            </a:r>
            <a:endParaRPr lang="en-US" sz="1100" dirty="0"/>
          </a:p>
        </p:txBody>
      </p:sp>
      <p:pic>
        <p:nvPicPr>
          <p:cNvPr id="12" name="Image 3" descr="Google Barkour (simulation model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550" y="4756150"/>
            <a:ext cx="1568450" cy="1143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184775" y="600075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Google Barkour</a:t>
            </a:r>
            <a:endParaRPr lang="en-US" sz="1100" dirty="0"/>
          </a:p>
        </p:txBody>
      </p:sp>
      <p:pic>
        <p:nvPicPr>
          <p:cNvPr id="14" name="Image 4" descr="Unitree G1 (simulation model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600" y="3745907"/>
            <a:ext cx="863600" cy="215324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010400" y="600075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Unitree G1</a:t>
            </a:r>
            <a:endParaRPr lang="en-US" sz="1100" dirty="0"/>
          </a:p>
        </p:txBody>
      </p:sp>
      <p:pic>
        <p:nvPicPr>
          <p:cNvPr id="16" name="Image 5" descr="Booster T1 (simulation model)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0800" y="3806825"/>
            <a:ext cx="939800" cy="2092325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521700" y="600075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Booster T1</a:t>
            </a:r>
            <a:endParaRPr lang="en-US" sz="1100" dirty="0"/>
          </a:p>
        </p:txBody>
      </p:sp>
      <p:sp>
        <p:nvSpPr>
          <p:cNvPr id="18" name="Text 10"/>
          <p:cNvSpPr txBox="1"/>
          <p:nvPr/>
        </p:nvSpPr>
        <p:spPr>
          <a:xfrm>
            <a:off x="812800" y="63246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Vihan Aggarwal · Subhiksha Stephan</a:t>
            </a:r>
            <a:endParaRPr lang="en-US" sz="1300" dirty="0"/>
          </a:p>
        </p:txBody>
      </p:sp>
      <p:sp>
        <p:nvSpPr>
          <p:cNvPr id="19" name="Text 11"/>
          <p:cNvSpPr txBox="1"/>
          <p:nvPr/>
        </p:nvSpPr>
        <p:spPr>
          <a:xfrm>
            <a:off x="7569200" y="63373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Robot models: MuJoCo Menagerie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/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Frames from our MuJoCo MJX run. Funding: Tracxn via axis-intelligence.com.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Robots learn to walk in simulation. Nobody checks where they will fall.</a:t>
            </a:r>
            <a:endParaRPr lang="en-US" sz="3400" dirty="0"/>
          </a:p>
        </p:txBody>
      </p:sp>
      <p:pic>
        <p:nvPicPr>
          <p:cNvPr id="7" name="Image 0" descr="Simulated Unitree Go1 walking normal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2025650"/>
            <a:ext cx="3384550" cy="19367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2800" y="2025650"/>
            <a:ext cx="3384550" cy="1936750"/>
          </a:xfrm>
          <a:prstGeom prst="rect">
            <a:avLst/>
          </a:prstGeom>
          <a:ln w="9525">
            <a:solidFill>
              <a:srgbClr val="D4D2C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4038600"/>
            <a:ext cx="3384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0.0 s · walking</a:t>
            </a:r>
            <a:endParaRPr lang="en-US" sz="1100" dirty="0"/>
          </a:p>
        </p:txBody>
      </p:sp>
      <p:pic>
        <p:nvPicPr>
          <p:cNvPr id="10" name="Image 1" descr="Simulated Unitree Go1 tipping for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50" y="2025650"/>
            <a:ext cx="3384550" cy="19367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0550" y="2025650"/>
            <a:ext cx="3384550" cy="1936750"/>
          </a:xfrm>
          <a:prstGeom prst="rect">
            <a:avLst/>
          </a:prstGeom>
          <a:ln w="9525">
            <a:solidFill>
              <a:srgbClr val="D4D2C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00550" y="4038600"/>
            <a:ext cx="3384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1.2 s · tipping</a:t>
            </a:r>
            <a:endParaRPr lang="en-US" sz="1100" dirty="0"/>
          </a:p>
        </p:txBody>
      </p:sp>
      <p:pic>
        <p:nvPicPr>
          <p:cNvPr id="13" name="Image 2" descr="Simulated Unitree Go1 fallen on its si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300" y="2025650"/>
            <a:ext cx="3384550" cy="193675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988300" y="2025650"/>
            <a:ext cx="3384550" cy="1936750"/>
          </a:xfrm>
          <a:prstGeom prst="rect">
            <a:avLst/>
          </a:prstGeom>
          <a:ln w="9525">
            <a:solidFill>
              <a:srgbClr val="D4D2C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988300" y="4038600"/>
            <a:ext cx="3384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3D3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1.4 s · down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812800" y="432435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real failure our search found: a trained Unitree Go1 controller goes from walking to down in 1.4 seconds. Simulation.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12800" y="4781550"/>
            <a:ext cx="10566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8" name="Shape 13"/>
          <p:cNvSpPr/>
          <p:nvPr/>
        </p:nvSpPr>
        <p:spPr>
          <a:xfrm>
            <a:off x="4334933" y="4794250"/>
            <a:ext cx="6350" cy="114300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9" name="Shape 14"/>
          <p:cNvSpPr/>
          <p:nvPr/>
        </p:nvSpPr>
        <p:spPr>
          <a:xfrm>
            <a:off x="7857067" y="4794250"/>
            <a:ext cx="6350" cy="114300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12800" y="4972050"/>
            <a:ext cx="326813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spc="-25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Teams ship new robot software faster than they can test it on real robots.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588933" y="4972050"/>
            <a:ext cx="301413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1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~140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588933" y="5492750"/>
            <a:ext cx="301413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humanoid robot companies worldwide in 2026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111067" y="4972050"/>
            <a:ext cx="326813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1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$2.37B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111067" y="5492750"/>
            <a:ext cx="326813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invested in humanoid startups in Q1 2026 alone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/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Engine: Python, JAX and MuJoCo MJX, running on GPUs.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Inoki Labs takes a policy you already trained and returns failures, a fix and a gate.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2800" y="2667000"/>
            <a:ext cx="1828800" cy="2159000"/>
          </a:xfrm>
          <a:prstGeom prst="roundRect">
            <a:avLst>
              <a:gd name="adj" fmla="val 2083"/>
            </a:avLst>
          </a:prstGeom>
          <a:solidFill>
            <a:srgbClr val="FBFAF7"/>
          </a:solidFill>
          <a:ln w="9525">
            <a:solidFill>
              <a:srgbClr val="CFCD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0600" y="2844800"/>
            <a:ext cx="147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90600" y="310515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spc="-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Search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990600" y="3498850"/>
            <a:ext cx="14732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Multi-start search for worlds where the fixed policy fails.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41600" y="3746500"/>
            <a:ext cx="355600" cy="0"/>
          </a:xfrm>
          <a:prstGeom prst="line">
            <a:avLst/>
          </a:prstGeom>
          <a:noFill/>
          <a:ln w="19050">
            <a:solidFill>
              <a:srgbClr val="14141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97200" y="2667000"/>
            <a:ext cx="1828800" cy="2159000"/>
          </a:xfrm>
          <a:prstGeom prst="roundRect">
            <a:avLst>
              <a:gd name="adj" fmla="val 2083"/>
            </a:avLst>
          </a:prstGeom>
          <a:solidFill>
            <a:srgbClr val="FBFAF7"/>
          </a:solidFill>
          <a:ln w="9525">
            <a:solidFill>
              <a:srgbClr val="CFCD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5000" y="2844800"/>
            <a:ext cx="147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175000" y="310515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spc="-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Cluster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175000" y="3498850"/>
            <a:ext cx="14732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Group failures into named families, with causes and video.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26000" y="3746500"/>
            <a:ext cx="355600" cy="0"/>
          </a:xfrm>
          <a:prstGeom prst="line">
            <a:avLst/>
          </a:prstGeom>
          <a:noFill/>
          <a:ln w="19050">
            <a:solidFill>
              <a:srgbClr val="14141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81600" y="2667000"/>
            <a:ext cx="1828800" cy="2159000"/>
          </a:xfrm>
          <a:prstGeom prst="roundRect">
            <a:avLst>
              <a:gd name="adj" fmla="val 2083"/>
            </a:avLst>
          </a:prstGeom>
          <a:solidFill>
            <a:srgbClr val="FBFAF7"/>
          </a:solidFill>
          <a:ln w="9525">
            <a:solidFill>
              <a:srgbClr val="CFCD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59400" y="2844800"/>
            <a:ext cx="147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59400" y="310515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spc="-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Verify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5359400" y="3498850"/>
            <a:ext cx="14732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Replay exactly. Re-check under other physics settings and in a second engine.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10400" y="3746500"/>
            <a:ext cx="355600" cy="0"/>
          </a:xfrm>
          <a:prstGeom prst="line">
            <a:avLst/>
          </a:prstGeom>
          <a:noFill/>
          <a:ln w="19050">
            <a:solidFill>
              <a:srgbClr val="14141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66000" y="2667000"/>
            <a:ext cx="1828800" cy="2159000"/>
          </a:xfrm>
          <a:prstGeom prst="roundRect">
            <a:avLst>
              <a:gd name="adj" fmla="val 2083"/>
            </a:avLst>
          </a:prstGeom>
          <a:solidFill>
            <a:srgbClr val="FBFAF7"/>
          </a:solidFill>
          <a:ln w="9525">
            <a:solidFill>
              <a:srgbClr val="CFCDC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2844800"/>
            <a:ext cx="147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10515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spc="-5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Repair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3498850"/>
            <a:ext cx="14732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Fine-tune against the failures. Measure before and after on fixed realistic worlds.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194800" y="3746500"/>
            <a:ext cx="355600" cy="0"/>
          </a:xfrm>
          <a:prstGeom prst="line">
            <a:avLst/>
          </a:prstGeom>
          <a:noFill/>
          <a:ln w="19050">
            <a:solidFill>
              <a:srgbClr val="14141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50400" y="2667000"/>
            <a:ext cx="1828800" cy="2159000"/>
          </a:xfrm>
          <a:prstGeom prst="roundRect">
            <a:avLst>
              <a:gd name="adj" fmla="val 2083"/>
            </a:avLst>
          </a:prstGeom>
          <a:solidFill>
            <a:srgbClr val="141413"/>
          </a:solidFill>
          <a:ln w="9525">
            <a:solidFill>
              <a:srgbClr val="14141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28200" y="2844800"/>
            <a:ext cx="147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29D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728200" y="310515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spc="-5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Gate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728200" y="3498850"/>
            <a:ext cx="14732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D4D3C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Blocks a regressing release in CI. About 1% false alarms. Signed reports.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0000"/>
            <a:ext cx="32512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2800" y="5194300"/>
            <a:ext cx="325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12800" y="5435600"/>
            <a:ext cx="3251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checkpoint you already trained. Importers for ONNX, Isaac, RSL-RL and Unitree formats.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470400" y="5080000"/>
            <a:ext cx="32512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470400" y="5194300"/>
            <a:ext cx="325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WHERE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470400" y="5435600"/>
            <a:ext cx="3251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Your own GPUs and your own CI. Policy weights never leave your machines.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128000" y="5080000"/>
            <a:ext cx="32512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28000" y="5194300"/>
            <a:ext cx="325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OUT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128000" y="5435600"/>
            <a:ext cx="3251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Failure families with video, a fix, and a pass or fail gate before hardware.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/ EVIDENCE: SEARCH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Simulation only (MuJoCo MJX) unless tagged otherwise. Synthetic means a planted test landscape on CPU.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Directed search finds failures closer to normal operating conditions, at equal budget.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2800" y="2076450"/>
            <a:ext cx="10566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8" name="Shape 6"/>
          <p:cNvSpPr/>
          <p:nvPr/>
        </p:nvSpPr>
        <p:spPr>
          <a:xfrm>
            <a:off x="4334933" y="2089150"/>
            <a:ext cx="6350" cy="298450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9" name="Shape 7"/>
          <p:cNvSpPr/>
          <p:nvPr/>
        </p:nvSpPr>
        <p:spPr>
          <a:xfrm>
            <a:off x="7857067" y="2089150"/>
            <a:ext cx="6350" cy="298450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305050"/>
            <a:ext cx="1016000" cy="215900"/>
          </a:xfrm>
          <a:prstGeom prst="roundRect">
            <a:avLst>
              <a:gd name="adj" fmla="val 17647"/>
            </a:avLst>
          </a:prstGeom>
          <a:ln w="13970">
            <a:solidFill>
              <a:srgbClr val="14141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2800" y="2317750"/>
            <a:ext cx="101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SIM · Go1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12800" y="2641600"/>
            <a:ext cx="321733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12,800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812800" y="3429000"/>
            <a:ext cx="321733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simulated worlds searched in one real run, grouped into 4 named failure families.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2800" y="4248150"/>
            <a:ext cx="321733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96.7% of search-selected worlds failed. These were chosen adversarially, so it is not a real-world failure probability.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39733" y="2305050"/>
            <a:ext cx="2095500" cy="215900"/>
          </a:xfrm>
          <a:prstGeom prst="roundRect">
            <a:avLst>
              <a:gd name="adj" fmla="val 17647"/>
            </a:avLst>
          </a:prstGeom>
          <a:ln w="13970">
            <a:solidFill>
              <a:srgbClr val="14141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39733" y="23177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SIM · CPU smoke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39733" y="2641600"/>
            <a:ext cx="291253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2×</a:t>
            </a:r>
            <a:endParaRPr lang="en-US" sz="5200" dirty="0"/>
          </a:p>
        </p:txBody>
      </p:sp>
      <p:sp>
        <p:nvSpPr>
          <p:cNvPr id="18" name="Text 16"/>
          <p:cNvSpPr txBox="1"/>
          <p:nvPr/>
        </p:nvSpPr>
        <p:spPr>
          <a:xfrm>
            <a:off x="4639733" y="3429000"/>
            <a:ext cx="291253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 many failures inside plausible deployment ranges as random sampling: 304 vs 156 of 384 rollouts.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639733" y="4248150"/>
            <a:ext cx="291253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Nearest failure 0.82 from nominal, vs 1.07 random and 1.12 RoboGate-style. Two seeds; our objective favors plausible worlds.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61867" y="2305050"/>
            <a:ext cx="2159000" cy="215900"/>
          </a:xfrm>
          <a:prstGeom prst="roundRect">
            <a:avLst>
              <a:gd name="adj" fmla="val 17647"/>
            </a:avLst>
          </a:prstGeom>
          <a:ln w="13970">
            <a:solidFill>
              <a:srgbClr val="14141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61867" y="2317750"/>
            <a:ext cx="215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SYNTHETIC · no physics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61867" y="2641600"/>
            <a:ext cx="321733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5.8 of 6</a:t>
            </a:r>
            <a:endParaRPr lang="en-US" sz="5200" dirty="0"/>
          </a:p>
        </p:txBody>
      </p:sp>
      <p:sp>
        <p:nvSpPr>
          <p:cNvPr id="23" name="Text 21"/>
          <p:cNvSpPr txBox="1"/>
          <p:nvPr/>
        </p:nvSpPr>
        <p:spPr>
          <a:xfrm>
            <a:off x="8161867" y="3429000"/>
            <a:ext cx="321733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planted failure modes found by 16 parallel restarts, against 1.8 of 6 for a single search at equal cost.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161867" y="4248150"/>
            <a:ext cx="321733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Most of the gain is filling the GPU batch. One large single search reaches 4.8 of 6.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2800" y="53403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6" name="Shape 24"/>
          <p:cNvSpPr/>
          <p:nvPr/>
        </p:nvSpPr>
        <p:spPr>
          <a:xfrm>
            <a:off x="812800" y="5499100"/>
            <a:ext cx="406400" cy="215900"/>
          </a:xfrm>
          <a:prstGeom prst="roundRect">
            <a:avLst>
              <a:gd name="adj" fmla="val 17647"/>
            </a:avLst>
          </a:prstGeom>
          <a:ln w="13970">
            <a:solidFill>
              <a:srgbClr val="14141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2800" y="55118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22400" y="5486400"/>
            <a:ext cx="9956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Cross-engine check: </a:t>
            </a:r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 failures replayed in a second simulator engine, with full agreement on one run.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/ EVIDENCE: REPAIR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SIM · MuJoCo MJX · simulation only · re-checked against the results file 2026-10-10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 Go1 and Spot, Inoki Labs roughly halves the failure left after standard randomization.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20828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ROBOT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55800" y="20828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FROZEN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844800" y="20828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STANDARD DR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511800" y="20828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 BEST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067800" y="20828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DISTILLED POLICY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800" y="2355850"/>
            <a:ext cx="10566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2800" y="2514600"/>
            <a:ext cx="107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955800" y="25209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80.0%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44800" y="2552700"/>
            <a:ext cx="622300" cy="177800"/>
          </a:xfrm>
          <a:prstGeom prst="rect">
            <a:avLst/>
          </a:prstGeom>
          <a:solidFill>
            <a:srgbClr val="9A99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94100" y="25209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32.6%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511800" y="2552700"/>
            <a:ext cx="317500" cy="1778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552700"/>
            <a:ext cx="114300" cy="177800"/>
          </a:xfrm>
          <a:prstGeom prst="rect">
            <a:avLst/>
          </a:prstGeom>
          <a:solidFill>
            <a:srgbClr val="B8B8B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70600" y="2520950"/>
            <a:ext cx="825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16.7%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96100" y="2552700"/>
            <a:ext cx="2108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bp_wide · 2nd seed 22.8%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67800" y="2520950"/>
            <a:ext cx="190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20.6%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2800" y="29146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2800" y="3067050"/>
            <a:ext cx="107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Spot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955800" y="30734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90.9%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844800" y="3105150"/>
            <a:ext cx="1162050" cy="177800"/>
          </a:xfrm>
          <a:prstGeom prst="rect">
            <a:avLst/>
          </a:prstGeom>
          <a:solidFill>
            <a:srgbClr val="9A999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33850" y="30734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60.9%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511800" y="3105150"/>
            <a:ext cx="654050" cy="1778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92850" y="3073400"/>
            <a:ext cx="825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34.4%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118350" y="310515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bp_wide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067800" y="3073400"/>
            <a:ext cx="190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36.8%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12800" y="34671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2800" y="3619500"/>
            <a:ext cx="107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Barkour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1955800" y="36258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53.1%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844800" y="3657600"/>
            <a:ext cx="869950" cy="177800"/>
          </a:xfrm>
          <a:prstGeom prst="rect">
            <a:avLst/>
          </a:prstGeom>
          <a:solidFill>
            <a:srgbClr val="9A999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41750" y="36258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45.5%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511800" y="3657600"/>
            <a:ext cx="838200" cy="1778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3625850"/>
            <a:ext cx="825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43.9%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302500" y="3657600"/>
            <a:ext cx="170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bp_wide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067800" y="3625850"/>
            <a:ext cx="190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40.2%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2800" y="40195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2800" y="4171950"/>
            <a:ext cx="107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G1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955800" y="41783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90.2%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2844800" y="4210050"/>
            <a:ext cx="1644650" cy="177800"/>
          </a:xfrm>
          <a:prstGeom prst="rect">
            <a:avLst/>
          </a:prstGeom>
          <a:solidFill>
            <a:srgbClr val="9A999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16450" y="41783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86.3%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5511800" y="4210050"/>
            <a:ext cx="1492250" cy="1778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131050" y="4178300"/>
            <a:ext cx="825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78.4%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956550" y="4210050"/>
            <a:ext cx="1047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bp_ft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067800" y="4178300"/>
            <a:ext cx="190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84.7%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12800" y="45720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2800" y="4724400"/>
            <a:ext cx="107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T1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1955800" y="47307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92.1%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2844800" y="4762500"/>
            <a:ext cx="1701800" cy="177800"/>
          </a:xfrm>
          <a:prstGeom prst="rect">
            <a:avLst/>
          </a:prstGeom>
          <a:solidFill>
            <a:srgbClr val="9A999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673600" y="473075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89.4%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511800" y="4762500"/>
            <a:ext cx="1619250" cy="1778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258050" y="4730750"/>
            <a:ext cx="825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84.9%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83550" y="4762500"/>
            <a:ext cx="92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bp_ft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9067800" y="4730750"/>
            <a:ext cx="190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89.6%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812800" y="51244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2800" y="53594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Failure rate on 2,048 paired simulated worlds, lower is better. The Inoki Labs column is the best of about 8 methods per robot: bp_wide on quadrupeds, bp_ft on humanoids (bp_ft on Go1 is 64.3%). Go1 has two seeds, 16.7% and 22.8%; other robots one. On Barkour the distilled policy beats it. Humanoid gains over standard practice are real but small, 4 to 8 points.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/ MARKET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Third-party forecasts of the markets we sell into. Prices are working assumptions, not yet set.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robot that learns has to be tested. That market is about to be enormous.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2800" y="2051050"/>
            <a:ext cx="5207000" cy="2901950"/>
          </a:xfrm>
          <a:prstGeom prst="roundRect">
            <a:avLst>
              <a:gd name="adj" fmla="val 1313"/>
            </a:avLst>
          </a:prstGeom>
          <a:solidFill>
            <a:srgbClr val="14141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17600" y="2355850"/>
            <a:ext cx="459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A3A29D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HUMANOID ROBOT MARKET BY 2050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7600" y="2667000"/>
            <a:ext cx="4597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0"/>
              </a:lnSpc>
              <a:buNone/>
            </a:pPr>
            <a:r>
              <a:rPr lang="en-US" sz="14000" b="1" spc="-70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$5T</a:t>
            </a:r>
            <a:endParaRPr lang="en-US" sz="14000" dirty="0"/>
          </a:p>
        </p:txBody>
      </p:sp>
      <p:sp>
        <p:nvSpPr>
          <p:cNvPr id="10" name="Text 8"/>
          <p:cNvSpPr txBox="1"/>
          <p:nvPr/>
        </p:nvSpPr>
        <p:spPr>
          <a:xfrm>
            <a:off x="1117600" y="4464050"/>
            <a:ext cx="459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29D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Morgan Stanley, "Humanoids: A $5 Trillion Market,"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27800" y="2051050"/>
            <a:ext cx="4851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27800" y="2190750"/>
            <a:ext cx="190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$38B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8636000" y="2305050"/>
            <a:ext cx="2743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humanoid robot market by 2035 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(Goldman Sachs, 2024)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27800" y="2984500"/>
            <a:ext cx="4851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27800" y="3124200"/>
            <a:ext cx="190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$3B+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636000" y="3238500"/>
            <a:ext cx="2743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spent on robot training data, including simulation, over two years 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(Bessemer, 2026)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27800" y="4064000"/>
            <a:ext cx="4851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27800" y="4203700"/>
            <a:ext cx="190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spc="-2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$1.4B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8636000" y="4318000"/>
            <a:ext cx="2743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robotics simulation software by 2030 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C5B5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(ABI Research)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27800" y="4953000"/>
            <a:ext cx="4851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2800" y="5270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HOW WE CHARGE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87600" y="5232400"/>
            <a:ext cx="8991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Pilot</a:t>
            </a:r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$15K one-off · </a:t>
            </a:r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Team</a:t>
            </a:r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$50K a year · </a:t>
            </a:r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Enterprise</a:t>
            </a:r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$200K a year. Starting with the ~140 humanoid companies and legged-robot teams.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/ COMPETITION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Our reading of public material. RoboGate figure: our reimplementation, simulation.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Others build the sim or run the sweep. Inoki Labs searches a fixed policy.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20701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PLAYER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0701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035800" y="20701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14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OUR DIFFERENCE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2800" y="2330450"/>
            <a:ext cx="10566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12800" y="234315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Drift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34315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LLM agent that sets up ROS2 simulations. Strong distribution (Product Hunt #5).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35800" y="234315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Sets up the sim but does not search it. Publishes no evaluation numbers.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800" y="28765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2800" y="288290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NVIDIA Isaac Lab-Arena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88290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Open-source GPU policy evaluation, 250+ tasks.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35800" y="288290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Runs sweeps you define, not adversarial search. A platform to integrate with.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34163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2800" y="342265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RoboGate (academic)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342265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Boundary sampling, a risk model and a gate, for manipulation.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035800" y="342265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Locomotion and repair. At equal budget our failures sit about 25% nearer nominal.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2800" y="39560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2800" y="396240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Enact (YC S26)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396240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Finds failures on physical robots, then retrains. Manipulation.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35800" y="396240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Simulation first, before hardware time. Locomotion.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2800" y="44958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2800" y="450215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Applied Intuition, Foretellix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450215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 scenario generation and coverage verification.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035800" y="450215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Vehicles, not learned robot policies. Applied Intuition is a likely acquirer.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503555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2800" y="5041900"/>
            <a:ext cx="20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Runtime.si (YC F26)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971800" y="5041900"/>
            <a:ext cx="386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"Evaluation layer for physical intelligence": scenario tests before deployment.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35800" y="5041900"/>
            <a:ext cx="434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Closest startup. Product not public; our method, code and numbers are.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55753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2800" y="5715000"/>
            <a:ext cx="10566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3D3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Prior art we build on and do not claim: Active Domain Randomization (2019), Bayesian Safety Validation (2023), Shi et al. (RSS 2024). Our claim is the combination: GPU-batched search, locomotion randomization, multiple robots, and cluster, verify, repair and a statistical release gate in one tool.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/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/ 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8636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spc="-100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robotics researcher and a go-to-market lead, backed early by Antler.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2800" y="2127250"/>
            <a:ext cx="4978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2800" y="2343150"/>
            <a:ext cx="4978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75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Vihan Aggarwal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2851150"/>
            <a:ext cx="497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CO-FOUNDER · CEO AND CTO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3200400"/>
            <a:ext cx="49784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MIT CSAIL, Mantis AI fellow (Kellis Lab)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Purdue TRACE Lab: acoustic gas-leak detection on a quadruped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IEEE Best Paper, AIIoT 2026: tendon-driven soft robotic arm (patent pending)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Yale GRAB Lab and Nazarbayev ARM Lab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Author of kinfast, a batched, differentiable robot kinematics library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0" y="2127250"/>
            <a:ext cx="4978400" cy="127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0" y="2343150"/>
            <a:ext cx="4978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75" kern="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Subhiksha Stephan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851150"/>
            <a:ext cx="497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5C5B56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CO-FOUNDER · CGO AND CMO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200400"/>
            <a:ext cx="49784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Duke University: biomedical engineering and ECE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Top 10 finalist, Blue Ocean Competition, the largest student entrepreneurship competition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Research intern at MIT</a:t>
            </a:r>
            <a:endParaRPr lang="en-US" sz="1350" dirty="0"/>
          </a:p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Drug discovery research at Mount Sinai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800" y="5638800"/>
            <a:ext cx="10566400" cy="6350"/>
          </a:xfrm>
          <a:prstGeom prst="rect">
            <a:avLst/>
          </a:prstGeom>
          <a:solidFill>
            <a:srgbClr val="D4D2CB"/>
          </a:solidFill>
          <a:ln/>
        </p:spPr>
      </p:sp>
      <p:pic>
        <p:nvPicPr>
          <p:cNvPr id="16" name="Image 0" descr="Antl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5816600"/>
            <a:ext cx="1060450" cy="2540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051050" y="5829300"/>
            <a:ext cx="5080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Early-stage backing from Antler.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406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/ 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569200" y="4064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INOKI LABS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3246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Every result so far is in simulation. This round is how we test it on hardware.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109200" y="63246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09 / 9</a:t>
            </a:r>
            <a:endParaRPr lang="en-US" sz="1100" dirty="0"/>
          </a:p>
        </p:txBody>
      </p:sp>
      <p:pic>
        <p:nvPicPr>
          <p:cNvPr id="6" name="Image 0" descr="Unitree G1 humanoid (simulation mode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9600" y="958850"/>
            <a:ext cx="1905000" cy="4749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499600" y="5816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Unitree G1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863600"/>
            <a:ext cx="800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80"/>
              </a:lnSpc>
              <a:buNone/>
            </a:pPr>
            <a:r>
              <a:rPr lang="en-US" sz="6400" b="1" spc="-25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Raising $100K</a:t>
            </a:r>
            <a:endParaRPr lang="en-US" sz="64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1790700"/>
            <a:ext cx="800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spc="-25" kern="0" dirty="0">
                <a:solidFill>
                  <a:srgbClr val="D4D3C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 buy a real humanoid and prove that failures we find in simulation happen on real robots.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12800" y="274955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WHAT THE MONEY BUYS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2800" y="3060700"/>
            <a:ext cx="8001000" cy="12700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2800" y="3251200"/>
            <a:ext cx="2463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2800" y="3524250"/>
            <a:ext cx="2463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5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Unitree G1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12800" y="3892550"/>
            <a:ext cx="2463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D4D3C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Our own humanoid, to reproduce simulated failures on real hardware.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479800" y="3073400"/>
            <a:ext cx="6350" cy="1524000"/>
          </a:xfrm>
          <a:prstGeom prst="rect">
            <a:avLst/>
          </a:prstGeom>
          <a:solidFill>
            <a:srgbClr val="2E2E2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83000" y="3251200"/>
            <a:ext cx="226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683000" y="3524250"/>
            <a:ext cx="2260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5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GPU rig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83000" y="3892550"/>
            <a:ext cx="2260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D4D3C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thousands of simulated worlds per batch, in-house.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6800" y="3073400"/>
            <a:ext cx="6350" cy="1524000"/>
          </a:xfrm>
          <a:prstGeom prst="rect">
            <a:avLst/>
          </a:prstGeom>
          <a:solidFill>
            <a:srgbClr val="2E2E2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50000" y="3251200"/>
            <a:ext cx="2463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50000" y="3524250"/>
            <a:ext cx="2463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50" kern="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Real-world testing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50000" y="3892550"/>
            <a:ext cx="2463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250" dirty="0">
                <a:solidFill>
                  <a:srgbClr val="D4D3C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More on-robot trials, with the results measured against simulation.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12800" y="4870450"/>
            <a:ext cx="8001000" cy="6350"/>
          </a:xfrm>
          <a:prstGeom prst="rect">
            <a:avLst/>
          </a:prstGeom>
          <a:solidFill>
            <a:srgbClr val="2E2E2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2800" y="502285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50" kern="0" dirty="0">
                <a:solidFill>
                  <a:srgbClr val="9A999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WHAT IT PROVES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12800" y="5283200"/>
            <a:ext cx="800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EDEDE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Failures found in simulation rank real-robot failures the same way, with confidence intervals. Then 2 to 3 outside teams run Inoki Labs on their own robots.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Inoki Labs Pitch Deck</dc:title>
  <dc:subject>PptxGenJS Presentation</dc:subject>
  <dc:creator>PptxGenJS</dc:creator>
  <cp:lastModifiedBy>PptxGenJS</cp:lastModifiedBy>
  <cp:revision>1</cp:revision>
  <dcterms:created xsi:type="dcterms:W3CDTF">2026-10-10T22:57:00Z</dcterms:created>
  <dcterms:modified xsi:type="dcterms:W3CDTF">2026-10-10T22:57:00Z</dcterms:modified>
</cp:coreProperties>
</file>